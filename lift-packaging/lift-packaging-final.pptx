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Проект: транспортно-монтажная упаковка комплекта лифта «Воздух». Покажу, как мы пришли к модульной системе и как она работает на всём пути от комплектации до монтажа.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Нужно спроектировать не тару, а систему. Пять групп узлов, общая масса около 1670 кг. Главное ограничение: еврофура, у кабины запас по высоте номинально 300 мм.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Семь требований по приоритету. Первые два: защита и фиксация, безопасная работа с тяжёлыми узлами.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Приоритетные пользователи: монтажная бригада и логистика. Остальные группы учтены в требованиях.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Аналоги: у ящика много отходов, у паллет много мест, плёнка не защищает тяжёлое, возвратная тара требует обратной логистики. Отсюда идея гибрида.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Пять противоречий, которые проект должен разрешить. Справа вопросы, которые нужно уточнить у заказчика.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Цепочка сценариев от комплектации до возврата. Самые критичные места: приёмка и монтаж.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Рассмотрели три направления. Выбрали В: модульную гибридную систему.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Схема: типовое основание, фиксаторы, съёмная защита под каждый узел. Два режима: транспорт и монтаж.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Решения по узлам. Нагрузку несёт основание, декоративные панели не нагружаются.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Главный размерный риск. Ширина упаковки кабины 2280 из 2450, высота 2500 из 2600. Запас по высоте 100 мм требует проверки на макете и на машине.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Унифицируем интерфейсы, а не размеры ящиков. Несущую способность по аналогии не переносим.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Эргономическая проверка по операциям. Последовательность задаёт сама конструкция.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Шесть шагов монтажной пригодности. Главное правило: несущий фиксатор снимается только после подхвата.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Этот раздел показывает проектные допущения. Размеры упаковки, кроме кабины, оценочные. Их нужно заменить данными изготовителя.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Конструктор: три типа оснований, фиксаторы, прокладки, съёмная защита.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Материалы: несущее из стали, защита из сортируемых панелей, сменные прокладки. Расчётом это ещё не подтверждено.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Производственная реализуемость: обычные технологии, риски названы по каждому элементу.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Номенклатура: три основания, один размер болта, один ключ, два размера панелей.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Чертёж кабины в сечении кузова. Действие при малом запасе: уменьшать основание и защиту.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План загрузки: занято около 5,1 м из 13,6 м. По длине большой запас, ограничения по ширине и высоте.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Схема вскрытия кабины. Подхват раньше снятия фиксаторов.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Схемы сборки и разборки для производства, транспортировки и места установки.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Пример маркировки места. Пять полей, читаемых с расстояния и вблизи.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Модуль E. Знаки безопасности на каждом месте. Знаки условные, в производство берутся по ISO 7010 и ISO 780.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Цветовой код: один цвет, одно значение. Красный и жёлтый только для безопасности.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Информация на боковой стороне читается на трёх уровнях: с трёх метров, вблизи и по QR-коду.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Бренд на упаковке спокойный и не мешает знакам безопасности.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Итоги. Концепция решает защиту, безопасное вскрытие и порядок выдачи. Нужны данные изготовителя, расчёты и макет.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Вопросы. Подготовлены ответы на четыре наиболее вероятных.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ПРОМЫШЛЕННЫЙ ДИЗАЙН · ЗАЩИТА ПРОЕКТА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8412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Транспортно-монтажная упаковка комплекта лифта «Воздух»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1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Модульная гибридная система: основание, фиксация, съёмная защита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852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Ершов Е.М., ПИ 4-1 · 01.10.2026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0" y="4206240"/>
            <a:ext cx="2194560" cy="1828800"/>
          </a:xfrm>
          <a:prstGeom prst="rect">
            <a:avLst/>
          </a:prstGeom>
          <a:solidFill>
            <a:srgbClr val="E8590C"/>
          </a:solidFill>
          <a:ln w="12700">
            <a:solidFill>
              <a:srgbClr val="5B6B7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0" y="2194560"/>
            <a:ext cx="1005840" cy="1828800"/>
          </a:xfrm>
          <a:prstGeom prst="rect">
            <a:avLst/>
          </a:prstGeom>
          <a:solidFill>
            <a:srgbClr val="34444D"/>
          </a:solidFill>
          <a:ln w="12700">
            <a:solidFill>
              <a:srgbClr val="5B6B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32720" y="2194560"/>
            <a:ext cx="1005840" cy="1828800"/>
          </a:xfrm>
          <a:prstGeom prst="rect">
            <a:avLst/>
          </a:prstGeom>
          <a:solidFill>
            <a:srgbClr val="34444D"/>
          </a:solidFill>
          <a:ln w="12700">
            <a:solidFill>
              <a:srgbClr val="5B6B7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0" y="914400"/>
            <a:ext cx="2194560" cy="1097280"/>
          </a:xfrm>
          <a:prstGeom prst="rect">
            <a:avLst/>
          </a:prstGeom>
          <a:solidFill>
            <a:srgbClr val="34444D"/>
          </a:solidFill>
          <a:ln w="12700">
            <a:solidFill>
              <a:srgbClr val="5B6B7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тара, а система от комплектации до монтажа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65836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14630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Компонент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Габариты, мм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Масса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Кабина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2100 × 1600 × 2300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600 кг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Двери шахты, 4 шт.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900 × 2100 каждая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80 кг каждая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Лебёдка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 × 600 × 500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350 кг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Противовес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1200 × 600 × 2200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400 кг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Пульт управления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 × 400 × 200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 указана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0292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 при ж/д и авто-перевозке, удобное вскрытие, перемещение узлов на площадке, меньше типоразмеров, повторное применение или утилизация.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680960" y="1737360"/>
            <a:ext cx="3931920" cy="2011680"/>
          </a:xfrm>
          <a:prstGeom prst="rect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63840" y="18745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1670 кг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27889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1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масса компонентов без пульта и упаковки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680960" y="3931920"/>
            <a:ext cx="3931920" cy="2011680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863840" y="40690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13,6 × 2,45 × 2,6 м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7863840" y="48463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еврофура: у кабины высотой 2,3 м номинальный запас только 300 мм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ТРЕБОВАНИЯ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Семь требований по приоритету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48640" cy="54864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645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 и фиксация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99339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смещения, опрокидывания, контакта деталей; влага и пыль; вибрация и удары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548640" cy="54864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788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Безопасная работа с тяжёлым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13639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Точки строповки и захвата, центр тяжести, без ручной переноски кабины и противовеса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548640" cy="548640"/>
          </a:xfrm>
          <a:prstGeom prst="ellipse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931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Понятная распаковка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427939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 к крепежу, маркировка порядка открытия и ориентации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166360"/>
            <a:ext cx="548640" cy="548640"/>
          </a:xfrm>
          <a:prstGeom prst="ellipse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166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5074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Монтажная логика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542239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Узлы выдаются в порядке монтажа, упаковка не блокирует доступ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2200" y="1737360"/>
            <a:ext cx="548640" cy="548640"/>
          </a:xfrm>
          <a:prstGeom prst="ellipse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7220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1645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Стандартизация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199339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Меньше панелей, опор и крепежа при разных уровнях защиты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72200" y="2880360"/>
            <a:ext cx="548640" cy="548640"/>
          </a:xfrm>
          <a:prstGeom prst="ellipse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7220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903720" y="2788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Повторное использование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903720" y="313639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Разборность, ремонтопригодность, сортировка материалов, компактное хранение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72200" y="4023360"/>
            <a:ext cx="548640" cy="548640"/>
          </a:xfrm>
          <a:prstGeom prst="ellipse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7220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6903720" y="3931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Логистика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903720" y="427939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Габариты, масса брутто, размещение в кузове, точки крепления, погрузка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ГРУППЫ ПОЛЬЗОВАТЕЛЕЙ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Пользователи: приоритет у монтажников и логистики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743200"/>
                <a:gridCol w="551383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Группа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Задача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Что нужно от упаковки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Производство и комплектовщики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Упаковать комплект без ошибок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Быстрая сборка тары, повторяемая схема, контроль комплектации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Склад и погрузчики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Переместить и загрузить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Устойчивое основание, доступ вил, масса и центр тяжести, точки строповки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Перевозчики авто и ж/д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Сохранить груз в пути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Надёжная фиксация, защита от ударов, вибрации и влаги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Приёмка на объекте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Проверить состояние и комплект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Идентификация мест, видимые повреждения, перечень содержимого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Монтажная бригада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Извлечь и установить узлы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Быстрый доступ, последовательная маркировка, понятное снятие фиксаторов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Охрана труда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Предотвратить травмы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Предупреждения, безопасный порядок вскрытия, опасные зоны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Закупки и логистика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Снизить стоимость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Минимум типоразмеров, доступные материалы, заполнение кузова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Экология и утилизация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Сократить отходы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Разделяемые материалы, маркировка материалов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ТЕКУЩИЕ РЕШЕНИЯ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Аналоги: у каждого решения своя слабость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606040" cy="329184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830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Деревянный ящик или обрешётка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603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Плюс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889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Жёсткая защита, простота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65760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Минус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88620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Много древесины, неудобное вскрытие, после монтажа отход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46704" y="1645920"/>
            <a:ext cx="2606040" cy="329184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9584" y="17830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Паллеты и отдельные короба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29584" y="25603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Плюс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529584" y="27889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Удобны для погрузчика, раздельная выдача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29584" y="365760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Минус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529584" y="388620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Много мест, риск потери мелочи, сложнее контроль комплекта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44768" y="1645920"/>
            <a:ext cx="2606040" cy="329184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27648" y="17830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Плёнка и мягкие прокладки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327648" y="25603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Плюс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327648" y="27889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Быстро и дёшево, защита от грязи и царапин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327648" y="365760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Минус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327648" y="388620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защищают тяжёлые узлы от удара, сдавливания и смещения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942832" y="1645920"/>
            <a:ext cx="2606040" cy="329184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25712" y="17830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Возвратная многооборотная тара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125712" y="25603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Плюс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125712" y="27889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Меньше одноразовых материалов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125712" y="365760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Минус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125712" y="388620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Нужна обратная логистика, склад, стандартные маршруты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212080"/>
            <a:ext cx="11091672" cy="914400"/>
          </a:xfrm>
          <a:prstGeom prst="rect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52578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Вывод: исследовать гибрид, то есть общие стандартные основания и защитные элементы плюс специальные фиксаторы для хрупких и тяжёлых узлов.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Проектная ситуация: пять противоречий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6035040" cy="73152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916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 ↔ масса и объём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116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Максимум защиты против минимума упаковки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6035040" cy="73152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5603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Унификация ↔ геометрия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8803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элементы против разных размеров и масс узлов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6035040" cy="73152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4290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Плотная загрузка ↔ доступ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7490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Компактный кузов против удобного доступа на объекте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6035040" cy="73152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2976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Одноразовость ↔ возврат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6177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Простота против обратной логистики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120640"/>
            <a:ext cx="6035040" cy="73152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51663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Быстрая распаковка ↔ жёсткость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4864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Скорость против безопасности до последнего этапа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49440" y="1645920"/>
            <a:ext cx="4690872" cy="4206240"/>
          </a:xfrm>
          <a:prstGeom prst="rect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78040" y="1810512"/>
            <a:ext cx="4233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уточнить до фиксации концепции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2240280"/>
            <a:ext cx="423367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4E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Можно ли менять ориентацию при перевозке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4E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Допустимо ли штабелирование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4E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разрешённые точки захвата и строповки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4E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Какие поверхности нельзя нагружать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4E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Нужна ли влагозащита и какая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4E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Возврат тары и обратный рейс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4E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Ограничения объекта: шахта, проёмы, кран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4E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Точная масса пульта и упаковки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СЦЕНАРИИ ИСПОЛЬЗОВАНИЯ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Цепочка от комплектации до возврата тары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057400" cy="822960"/>
          </a:xfrm>
          <a:prstGeom prst="rect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8288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 Комплектация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34640"/>
            <a:ext cx="2057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Сверка списка, маркированные места, фиксация тяжёлых узлов, проверка массы и габарита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2578608" y="1920240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788920" y="1828800"/>
            <a:ext cx="2057400" cy="822960"/>
          </a:xfrm>
          <a:prstGeom prst="rect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80360" y="18288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  Погрузка и перевозка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2834640"/>
            <a:ext cx="2057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Захват только за зоны, крепление по массе и центру тяжести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818888" y="1920240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029200" y="1828800"/>
            <a:ext cx="2057400" cy="822960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20640" y="18288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 Приёмка и распаковка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2834640"/>
            <a:ext cx="2057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Идентификация мест, снятие фиксаторов по порядку, механизированная выгрузка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059168" y="1920240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7269480" y="1828800"/>
            <a:ext cx="2057400" cy="822960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60920" y="18288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  Монтаж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269480" y="2834640"/>
            <a:ext cx="2057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Подача по очереди монтажа, защита снимается перед использованием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9299448" y="1920240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9509760" y="1828800"/>
            <a:ext cx="2057400" cy="822960"/>
          </a:xfrm>
          <a:prstGeom prst="rect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01200" y="18288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  Возврат или утилизация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509760" y="2834640"/>
            <a:ext cx="2057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Складывание, ремонт, сортировка по материалам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029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Критические точки: упаковочный габарит кабины, фиксация тяжёлых узлов, безопасность вскрытия, механизированный подъём, порядок выдачи монтажникам.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КОНЦЕПТУАЛЬНЫЙ ПОИСК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 B: три направления концепции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66160" cy="4480560"/>
          </a:xfrm>
          <a:prstGeom prst="rect">
            <a:avLst/>
          </a:prstGeom>
          <a:solidFill>
            <a:srgbClr val="F3F4F5"/>
          </a:solidFill>
          <a:ln w="9525">
            <a:solidFill>
              <a:srgbClr val="F3F4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Направление А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03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Отдельные закрытые ящики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17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Плюсы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2918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Понятная защита, простое изготовление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572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Минусы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8463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Много материала, трудоёмкое вскрытие, ящик мешает доступу, больше отходов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0" y="1645920"/>
            <a:ext cx="3566160" cy="4480560"/>
          </a:xfrm>
          <a:prstGeom prst="rect">
            <a:avLst/>
          </a:prstGeom>
          <a:solidFill>
            <a:srgbClr val="F3F4F5"/>
          </a:solidFill>
          <a:ln w="9525">
            <a:solidFill>
              <a:srgbClr val="F3F4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2628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Направление Б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2103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Открытые многооборотные рамы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3017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Плюсы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32918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Доступность узла, ремонтопригодность, повторное использование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4572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Минусы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48463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Грязь и влага, обратная логистика, масса и цена рамы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46720" y="1645920"/>
            <a:ext cx="3566160" cy="4480560"/>
          </a:xfrm>
          <a:prstGeom prst="rect">
            <a:avLst/>
          </a:prstGeom>
          <a:solidFill>
            <a:srgbClr val="1F2A30"/>
          </a:solidFill>
          <a:ln w="38100">
            <a:solidFill>
              <a:srgbClr val="E8590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7532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Направление В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2103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Модульная гибридная система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3017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D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Плюсы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275320" y="32918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4E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 по риску каждого узла, основание служит средством перемещения, унификация крепежа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275320" y="4572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5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Минусы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275320" y="48463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4E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Сложные соединения, риск избытка переходников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КОНЦЕПЦИЯ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Выбрано В: «основание + фиксация + съёмная защита»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14400" y="1737360"/>
            <a:ext cx="4206240" cy="1371600"/>
          </a:xfrm>
          <a:prstGeom prst="rect">
            <a:avLst/>
          </a:prstGeom>
          <a:solidFill>
            <a:srgbClr val="FDE9DC"/>
          </a:solidFill>
          <a:ln w="19050">
            <a:solidFill>
              <a:srgbClr val="E8590C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914400" y="1737360"/>
            <a:ext cx="4206240" cy="1371600"/>
          </a:xfrm>
          <a:prstGeom prst="rect">
            <a:avLst/>
          </a:prstGeom>
          <a:noFill/>
          <a:ln/>
        </p:spPr>
        <p:txBody>
          <a:bodyPr wrap="square" lIns="127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съёмная защита (под каждый узел)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645920" y="2194560"/>
            <a:ext cx="2743200" cy="777240"/>
          </a:xfrm>
          <a:prstGeom prst="rect">
            <a:avLst/>
          </a:prstGeom>
          <a:solidFill>
            <a:srgbClr val="34444D"/>
          </a:solidFill>
          <a:ln w="12700">
            <a:solidFill>
              <a:srgbClr val="34444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645920" y="21945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УЗЕЛ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97280" y="3108960"/>
            <a:ext cx="274320" cy="457200"/>
          </a:xfrm>
          <a:prstGeom prst="rect">
            <a:avLst/>
          </a:prstGeom>
          <a:solidFill>
            <a:srgbClr val="5B6B75"/>
          </a:solidFill>
          <a:ln w="12700">
            <a:solidFill>
              <a:srgbClr val="5B6B7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3108960"/>
            <a:ext cx="274320" cy="457200"/>
          </a:xfrm>
          <a:prstGeom prst="rect">
            <a:avLst/>
          </a:prstGeom>
          <a:solidFill>
            <a:srgbClr val="5B6B75"/>
          </a:solidFill>
          <a:ln w="12700">
            <a:solidFill>
              <a:srgbClr val="5B6B7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63040" y="3154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фиксаторы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3566160"/>
            <a:ext cx="4206240" cy="640080"/>
          </a:xfrm>
          <a:prstGeom prst="rect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35661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типовое основание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2976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зоны захвата: вилы и стропы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852160" y="17373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режима работы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852160" y="21945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Транспорт: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удерживать узлы, защищать, позволять закрепить груз в авто и на ж/д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Монтаж: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открываться предсказуемо, давать доступ к одному узлу, сохранять защиту остальных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852160" y="36576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выбрано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852160" y="4069080"/>
            <a:ext cx="5760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Лучше остальных решает две главные задачи: сохранить оборудование в пути и безопасно выдать его монтажникам. Комплект не сводится в один ящик: пять маркированных мест на общей конструктивной логике.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ЭСКИЗНЫЕ РЕШЕНИЯ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Решения по узлам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66160" cy="2148840"/>
          </a:xfrm>
          <a:prstGeom prst="rect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105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Кабина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4028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E4E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Свой каркас-основание, фиксация за конструктивные точки, съёмные угловые и верхние защиты. Габарит упаковки ≈ 2280 × 1800 × 2500 мм.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3566160" cy="214884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18105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Двери (4 шт.)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24028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Отдельная кассета с разделителями и защитой кромок, извлечение по одной. Габарит ≈ 2250 × 1100 мм, высота не назначена. Комплект ≈ 320 кг.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3566160" cy="214884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75320" y="18105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Лебёдка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275320" y="224028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Низкий силовой поддон, локальная защита выступов. Кожух снимается, не ослабляя крепление лебёдки. ≈ 350 кг.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3566160" cy="214884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142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Противовес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57200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Устойчивый вертикальный модуль, широкое основание против опрокидывания, верхняя фиксация до подхвата. Ориентацию подтвердить у изготовителя.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297680" y="3977640"/>
            <a:ext cx="3566160" cy="214884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26280" y="4142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Пульт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526280" y="457200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Отдельное закрытое место: защита от влаги и ударов, кабели и документация вместе. Не прятать в полости другого узла.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046720" y="3977640"/>
            <a:ext cx="3566160" cy="2148840"/>
          </a:xfrm>
          <a:prstGeom prst="rect">
            <a:avLst/>
          </a:prstGeom>
          <a:solidFill>
            <a:srgbClr val="FDE9DC"/>
          </a:solidFill>
          <a:ln w="12700">
            <a:solidFill>
              <a:srgbClr val="FDE9D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75320" y="3977640"/>
            <a:ext cx="3108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Принцип: нагрузку несёт основание, декоративные панели не нагружаются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ФУНКЦИОНАЛЬНАЯ ПРОВЕРКА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размерный риск: кабина в еврофуре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Ширина, мм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6949440" cy="548640"/>
          </a:xfrm>
          <a:prstGeom prst="rect">
            <a:avLst/>
          </a:prstGeom>
          <a:solidFill>
            <a:srgbClr val="D5DADD"/>
          </a:solidFill>
          <a:ln w="12700">
            <a:solidFill>
              <a:srgbClr val="D5DA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03120"/>
            <a:ext cx="6467234" cy="548640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03120"/>
            <a:ext cx="5956663" cy="548640"/>
          </a:xfrm>
          <a:prstGeom prst="rect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103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изделие 2100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6974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упаковка 2280 из 2450: запас 170 мм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Высота, мм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6949440" cy="548640"/>
          </a:xfrm>
          <a:prstGeom prst="rect">
            <a:avLst/>
          </a:prstGeom>
          <a:solidFill>
            <a:srgbClr val="D5DADD"/>
          </a:solidFill>
          <a:ln w="12700">
            <a:solidFill>
              <a:srgbClr val="D5DA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749040"/>
            <a:ext cx="6682154" cy="548640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749040"/>
            <a:ext cx="6147582" cy="548640"/>
          </a:xfrm>
          <a:prstGeom prst="rect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749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изделие 2300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3434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упаковка 2500 из 2600: запас 100 мм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93776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Замки, ремни и защита должны входить в заявленный габарит. Высоту проёма и полезную высоту конкретной машины нужно замерить. Если запас мал, пересматривать основание и верхнюю защиту, а не габариты изделия.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046720" y="1737360"/>
            <a:ext cx="3593592" cy="2011680"/>
          </a:xfrm>
          <a:prstGeom prst="rect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0" y="18745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мм</a:t>
            </a:r>
            <a:endParaRPr lang="en-US" sz="48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27889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запас по высоте на основание, защиту и зазоры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46720" y="3931920"/>
            <a:ext cx="3593592" cy="2194560"/>
          </a:xfrm>
          <a:prstGeom prst="rect">
            <a:avLst/>
          </a:prstGeom>
          <a:solidFill>
            <a:srgbClr val="FDE9DC"/>
          </a:solidFill>
          <a:ln w="12700">
            <a:solidFill>
              <a:srgbClr val="FDE9D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75320" y="409651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доказано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275320" y="4526280"/>
            <a:ext cx="31363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Схема загрузки пяти мест на 13,6 м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Зазоры для крепления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Порядок выгрузки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СТАНДАРТИЗАЦИЯ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Унифицируем интерфейсы, а не размеры ящиков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017520" cy="123444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4592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 основания и расположение зон захвата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749040" y="1645920"/>
            <a:ext cx="3017520" cy="123444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931920" y="164592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 соединения съёмной защиты с основанием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3017520" cy="123444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06324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Ограниченная номенклатура крепежа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49040" y="3063240"/>
            <a:ext cx="3017520" cy="123444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31920" y="306324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Сменные мягкие прокладки для контакта с изделием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480560"/>
            <a:ext cx="3017520" cy="123444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48056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Маркировка: код узла, масса брутто, верх/низ, порядок открытия, точки подъёма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749040" y="4480560"/>
            <a:ext cx="3017520" cy="123444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31920" y="448056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Разборка и складывание ненужных после монтажа элементов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223760" y="1645920"/>
            <a:ext cx="4416552" cy="4069080"/>
          </a:xfrm>
          <a:prstGeom prst="rect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0" y="1828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Граница унификации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0" y="237744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Силовые основания кабины и противовеса нельзя считать одинаковыми без расчёта.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393192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1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Унификация интерфейса допустима. Унификация несущей способности «по аналогии» недопустима.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ЭРГОНОМИКА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Эргономическая проверка по сценариям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743200"/>
                <a:gridCol w="3566160"/>
                <a:gridCol w="27706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Операция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Проблема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Решение в концепции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Проверить на макете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Найти узел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Маркировка закрыта соседним грузом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Код узла на нескольких видимых сторонах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Читается ли после загрузки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Поднять упаковку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Неясно, куда вилы и стропы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Выделенные зоны захвата и точки подъёма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Доступны ли при реальной расстановке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Открыть защиту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Тяжёлая панель в руках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Управляемые съёмные элементы, порядок снятия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Масса элемента, нужен ли второй работник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Ослабить фиксацию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Узел смещается или опрокидывается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Сначала подхват, потом снятие фиксаторов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Доступ к крепежу вне опасной зоны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Извлечь дверь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Остальные теряют опору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Независимые разделители и фиксаторы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Устойчивость кассеты после извлечения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Убрать пустую тару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Крупные элементы перекрывают проход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Разборка и компактное складирование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Объём сложенной тары, время разборки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Последовательность задаётся конструкцией, нумерацией операций и видимыми обозначениями, а не догадкой пользователя.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ФУНКЦИОНАЛЬНАЯ ПРОВЕРКА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Монтажная пригодность: шесть шагов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66160" cy="146304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20240"/>
            <a:ext cx="548640" cy="548640"/>
          </a:xfrm>
          <a:prstGeom prst="ellipse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8288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Принять и идентифицировать все места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566160" cy="146304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920240"/>
            <a:ext cx="548640" cy="548640"/>
          </a:xfrm>
          <a:prstGeom prst="ellipse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8056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18288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Подготовить подъёмное оборудование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46720" y="1737360"/>
            <a:ext cx="3566160" cy="146304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1920240"/>
            <a:ext cx="548640" cy="54864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0" y="18288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Снять защиту без потери устойчивости узла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3474720"/>
            <a:ext cx="3566160" cy="146304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657600"/>
            <a:ext cx="548640" cy="548640"/>
          </a:xfrm>
          <a:prstGeom prst="ellipse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356616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Поочерёдно извлечь компоненты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297680" y="3474720"/>
            <a:ext cx="3566160" cy="146304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3657600"/>
            <a:ext cx="548640" cy="548640"/>
          </a:xfrm>
          <a:prstGeom prst="ellipse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48056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5212080" y="356616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Сохранить защиту неиспользуемых деталей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046720" y="3474720"/>
            <a:ext cx="3566160" cy="146304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0" y="3657600"/>
            <a:ext cx="548640" cy="548640"/>
          </a:xfrm>
          <a:prstGeom prst="ellipse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8961120" y="356616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Разобрать или вернуть тару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48640" y="5303520"/>
            <a:ext cx="11091672" cy="822960"/>
          </a:xfrm>
          <a:prstGeom prst="rect">
            <a:avLst/>
          </a:prstGeom>
          <a:solidFill>
            <a:srgbClr val="FDE9DC"/>
          </a:solidFill>
          <a:ln w="12700">
            <a:solidFill>
              <a:srgbClr val="FDE9D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530352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шаг требует снять несущий фиксатор раньше, чем узел надёжно подхвачен, конструкцию нужно переработать.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ИСХОДНЫЕ УСЛОВИЯ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Допущения: в задании этих данных нет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5669280"/>
                <a:gridCol w="240487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Параметр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Принято в проекте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Статус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Кабина: упаковочный габарит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2280 × 1800 × 2500 мм (основание 150 + изделие 2300 + верхняя защита 50)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эскиз из модуля 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Кассета дверей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2250 × 1100 мм в плане, высота ≈ 450 мм (4 двери с разделителями)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толщина дверей неизвестна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Противовес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1400 × 800 × 2400 мм, вертикально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ориентацию подтвердить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Лебёдка и пульт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поддон 1000 × 800 × 800; короб 700 × 500 × 300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оценка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Масса брутто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2,0–2,2 т: узлы 1670 кг + упаковка ≈ 20 % + пульт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оценка, нужен расчёт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Кузов еврофуры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13,6 × 2,45 × 2,6 м, номинально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замерить конкретную машину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6235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размеры упаковки ниже проектные. Они нужны, чтобы проверить концепцию, и должны быть заменены данными изготовителя лифта после уточнения.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 C · КОНСТРУКЦИЯ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3D-концепт: конструктор из трёх типов оснований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3291840" cy="640080"/>
          </a:xfrm>
          <a:prstGeom prst="rect">
            <a:avLst/>
          </a:prstGeom>
          <a:solidFill>
            <a:srgbClr val="FDE9DC"/>
          </a:solidFill>
          <a:ln w="19050">
            <a:solidFill>
              <a:srgbClr val="E8590C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822960" y="16916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съёмная защита: панели на быстросъёмных замках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05840" y="2606040"/>
            <a:ext cx="2926080" cy="548640"/>
          </a:xfrm>
          <a:prstGeom prst="rect">
            <a:avLst/>
          </a:prstGeom>
          <a:solidFill>
            <a:srgbClr val="D5DADD"/>
          </a:solidFill>
          <a:ln w="12700">
            <a:solidFill>
              <a:srgbClr val="5B6B7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2606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мягкие сменные прокладки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88720" y="3429000"/>
            <a:ext cx="2560320" cy="822960"/>
          </a:xfrm>
          <a:prstGeom prst="rect">
            <a:avLst/>
          </a:prstGeom>
          <a:solidFill>
            <a:srgbClr val="34444D"/>
          </a:solidFill>
          <a:ln w="12700">
            <a:solidFill>
              <a:srgbClr val="3444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88720" y="34290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УЗЕЛ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05840" y="4526280"/>
            <a:ext cx="2926080" cy="457200"/>
          </a:xfrm>
          <a:prstGeom prst="rect">
            <a:avLst/>
          </a:prstGeom>
          <a:solidFill>
            <a:srgbClr val="5B6B75"/>
          </a:solidFill>
          <a:ln w="12700">
            <a:solidFill>
              <a:srgbClr val="5B6B7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4526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фиксаторы: болты M12, ремни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5257800"/>
            <a:ext cx="3291840" cy="640080"/>
          </a:xfrm>
          <a:prstGeom prst="rect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52578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сварное основание с карманами под вилы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691640"/>
          <a:ext cx="706831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743200"/>
                <a:gridCol w="267919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Место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Основание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Защита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Кабина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тип 1: рама 2280 × 1800, 150 мм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каркас-кожух: 4 угла + верх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Противовес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тип 1: та же логика, шире база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стойки и хомут верха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Лебёдка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тип 2: силовой поддон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кожух-колпак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Кассета дверей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тип 2: плоский поддон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крышка с разделителями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Пульт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тип 3: короб-контейнер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встроена в короб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4572000" y="5212080"/>
            <a:ext cx="7068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Силовые основания кабины и противовеса общие по интерфейсу (карманы, точки строповки, посадка защиты), но рассчитываются отдельно.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 C · МАТЕРИАЛЫ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Материалы: сталь несёт, панели защищают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931920"/>
                <a:gridCol w="3017520"/>
                <a:gridCol w="203911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Элемент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Материал (предложение)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Зачем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После использования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Основания, стойки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Сталь, профильная труба, сварка, покраска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Несущая способность, многооборотность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Возврат, ремонт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Панели защиты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Сотовый полипропилен или фанера 12 мм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Лёгкие, влагостойкие, снимаются вручную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Сортировка по материалу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Прокладки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Вспененный полиэтилен, сменные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Мягкий контакт, без царапин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Замена, переработка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Кромки и углы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Угловые профили из ПЭ или картона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Защита кромок дверей и кабины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Утилизация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Влагозащита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Стрейч-плёнка, влагопоглотитель, пакеты для пульта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Защита от влаги и пыли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Раздельный сбор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Крепёж и ремни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Болты M12 одного размера, храповые ремни 50 мм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Один ключ на всю систему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Возврат в комплекте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Материалы и сечения нужно подтвердить расчётом нагрузок и испытаниями на макете. Здесь это исходный выбор.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 C · ТЕХНОЛОГИЧНОСТЬ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Производственная реализуемость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440680" cy="219456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Сварные основания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4028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Резка профиля, сварка в кондукторе, порошковая покраска. Обычная слесарная технология, два типоразмера рам.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0896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Риск: коробление рамы 2280 мм, нужен кондуктор и контроль плоскостности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645920"/>
            <a:ext cx="5440680" cy="219456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7830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Панели защиты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24028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Раскрой на ЧПУ или лазером из листа, единые пазы под замок. Один размер панели на несколько мест.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310896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Риск: разная высота, нужен ряд кратных размеров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5440680" cy="219456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16052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Мягкие элементы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61772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Вырубка из листа вспененного ПЭ, без оснастки под каждый узел.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548640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Риск: усадка, износ, замена по регламенту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72200" y="4023360"/>
            <a:ext cx="5440680" cy="219456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0" y="416052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Сборка и упаковка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461772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Упаковка по карте: комплектовщик собирает место за одну смену без спецоснастки.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548640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Риск: ошибки комплектации, нужен чек-лист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 C · УНИФИКАЦИЯ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Номенклатура: минимум разных деталей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606040" cy="1645920"/>
          </a:xfrm>
          <a:prstGeom prst="rect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97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типа оснований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46704" y="1645920"/>
            <a:ext cx="2606040" cy="1645920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9584" y="1737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3529584" y="2697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размер болта, M12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44768" y="1645920"/>
            <a:ext cx="2606040" cy="1645920"/>
          </a:xfrm>
          <a:prstGeom prst="rect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27648" y="1737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6327648" y="2697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 на весь комплект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942832" y="1645920"/>
            <a:ext cx="2606040" cy="1645920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1737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400" dirty="0"/>
          </a:p>
        </p:txBody>
      </p:sp>
      <p:sp>
        <p:nvSpPr>
          <p:cNvPr id="16" name="Text 14"/>
          <p:cNvSpPr txBox="1"/>
          <p:nvPr/>
        </p:nvSpPr>
        <p:spPr>
          <a:xfrm>
            <a:off x="9125712" y="2697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типоразмера панели защиты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566160"/>
            <a:ext cx="5440680" cy="246888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37307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общее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160520"/>
            <a:ext cx="4983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Карманы под вилы и точки строповки на одних местах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Посадка защиты на основание одним типом замка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Цвет и формат маркировки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Сменные прокладки одного набора толщин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172200" y="3566160"/>
            <a:ext cx="5468112" cy="2468880"/>
          </a:xfrm>
          <a:prstGeom prst="rect">
            <a:avLst/>
          </a:prstGeom>
          <a:solidFill>
            <a:srgbClr val="FDE9DC"/>
          </a:solidFill>
          <a:ln w="12700">
            <a:solidFill>
              <a:srgbClr val="FDE9D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0" y="3730752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разное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4160520"/>
            <a:ext cx="50109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Несущая способность оснований кабины и противовеса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 защиты под геометрию узла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Уровень влагозащиты: пульт и двери строже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Способ фиксации: ремни, болты, хомуты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 D · ЧЕРТЁЖ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Габаритный чертёж: кабина в сечении кузова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88720" y="1600200"/>
            <a:ext cx="3808476" cy="4041648"/>
          </a:xfrm>
          <a:prstGeom prst="rect">
            <a:avLst/>
          </a:prstGeom>
          <a:solidFill>
            <a:srgbClr val="FFFFFF"/>
          </a:solidFill>
          <a:ln w="25400">
            <a:solidFill>
              <a:srgbClr val="5B6B75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320851" y="5408676"/>
            <a:ext cx="3544214" cy="233172"/>
          </a:xfrm>
          <a:prstGeom prst="rect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0851" y="1833372"/>
            <a:ext cx="3544214" cy="3575304"/>
          </a:xfrm>
          <a:prstGeom prst="rect">
            <a:avLst/>
          </a:prstGeom>
          <a:solidFill>
            <a:srgbClr val="F3F4F5"/>
          </a:solidFill>
          <a:ln w="19050">
            <a:solidFill>
              <a:srgbClr val="3444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0754" y="1833372"/>
            <a:ext cx="3264408" cy="3575304"/>
          </a:xfrm>
          <a:prstGeom prst="rect">
            <a:avLst/>
          </a:prstGeom>
          <a:solidFill>
            <a:srgbClr val="C9D1D6"/>
          </a:solidFill>
          <a:ln w="12700">
            <a:solidFill>
              <a:srgbClr val="3444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0851" y="1755648"/>
            <a:ext cx="3544214" cy="77724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0851" y="2999232"/>
            <a:ext cx="35442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кабина 2100 × 2300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1307592"/>
            <a:ext cx="38084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кузов 2450 × 2600 (номинал)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54396" y="1645920"/>
          <a:ext cx="6185916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0972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Размер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мм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Изделие, высота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Основание с карманами под вилы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Верхняя защита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Упаковка, высота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Запас до 2600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Упаковка, ширина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2280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Запас по ширине, суммарно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5454396" y="5029200"/>
            <a:ext cx="61859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Запас 100 мм по высоте слишком мал для неровности пола и просадки подвески. Действие: уменьшать основание и верхнюю защиту, изделие не менять. Вариант: опустить изделие в основание, чтобы вернуть 30–50 мм.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 D · ЧЕРТЁЖ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загрузки еврофуры: по длине запас 8,5 м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0881360" cy="1960245"/>
          </a:xfrm>
          <a:prstGeom prst="rect">
            <a:avLst/>
          </a:prstGeom>
          <a:solidFill>
            <a:srgbClr val="FFFFFF"/>
          </a:solidFill>
          <a:ln w="25400">
            <a:solidFill>
              <a:srgbClr val="5B6B7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8650" y="2171128"/>
            <a:ext cx="1440180" cy="1824228"/>
          </a:xfrm>
          <a:prstGeom prst="rect">
            <a:avLst/>
          </a:prstGeom>
          <a:solidFill>
            <a:srgbClr val="1F2A3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1490" y="2171128"/>
            <a:ext cx="1714500" cy="1824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Кабина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188845" y="2183130"/>
            <a:ext cx="880110" cy="1800225"/>
          </a:xfrm>
          <a:prstGeom prst="rect">
            <a:avLst/>
          </a:prstGeom>
          <a:solidFill>
            <a:srgbClr val="3444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51685" y="2183130"/>
            <a:ext cx="1154430" cy="1800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Двери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188970" y="2183130"/>
            <a:ext cx="640080" cy="1120140"/>
          </a:xfrm>
          <a:prstGeom prst="rect">
            <a:avLst/>
          </a:prstGeom>
          <a:solidFill>
            <a:srgbClr val="1F2A3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51810" y="2183130"/>
            <a:ext cx="91440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Противовес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949065" y="2183130"/>
            <a:ext cx="640080" cy="800100"/>
          </a:xfrm>
          <a:prstGeom prst="rect">
            <a:avLst/>
          </a:prstGeom>
          <a:solidFill>
            <a:srgbClr val="3444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11905" y="2183130"/>
            <a:ext cx="9144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Лебёдка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949065" y="3063240"/>
            <a:ext cx="640080" cy="560070"/>
          </a:xfrm>
          <a:prstGeom prst="rect">
            <a:avLst/>
          </a:prstGeom>
          <a:solidFill>
            <a:srgbClr val="E859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11905" y="3063240"/>
            <a:ext cx="914400" cy="560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Пульт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154805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 сверху, масштаб 1:1140. Кабина занимает ширину 2280 из 2450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28650" y="1737360"/>
            <a:ext cx="40405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занято ≈ 5,1 м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629150" y="1737360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свободно ≈ 8,5 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526280"/>
            <a:ext cx="3566160" cy="169164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6908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Порядок выгрузки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51206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Пульт и лебёдка первыми (ближе к дверям)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Противовес, двери, кабина последней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297680" y="4526280"/>
            <a:ext cx="3566160" cy="169164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26280" y="46908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Крепление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526280" y="51206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Ремни на точки основания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Распорные брусья по бокам, зазоры 100 мм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046720" y="4526280"/>
            <a:ext cx="3593592" cy="1691640"/>
          </a:xfrm>
          <a:prstGeom prst="rect">
            <a:avLst/>
          </a:prstGeom>
          <a:solidFill>
            <a:srgbClr val="FDE9DC"/>
          </a:solidFill>
          <a:ln w="12700">
            <a:solidFill>
              <a:srgbClr val="FDE9D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75320" y="469087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Проверить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275320" y="5120640"/>
            <a:ext cx="31363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Ось груза и нагрузка на оси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Реальную высоту кузова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Габарит на ж/д платформе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 D · РАЗБОРКА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Схема вскрытия кабины: подхват раньше фиксаторов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737360" cy="777240"/>
          </a:xfrm>
          <a:prstGeom prst="rect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8288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Осмотр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8892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Проверить целостность плёнки и признаки удара или воды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23160" y="1828800"/>
            <a:ext cx="1737360" cy="777240"/>
          </a:xfrm>
          <a:prstGeom prst="rect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14600" y="18288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Верх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423160" y="278892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Снять верхнюю панель защиты вдвоём, масса до 15 кг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1828800"/>
            <a:ext cx="1737360" cy="777240"/>
          </a:xfrm>
          <a:prstGeom prst="rect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89120" y="18288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Углы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278892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Снять угловые стойки в порядке 1–4 по маркировке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828800"/>
            <a:ext cx="1737360" cy="777240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18288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Подхват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278892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Завести стропы за точки подъёма, взять вес без рывка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0" y="1828800"/>
            <a:ext cx="1737360" cy="777240"/>
          </a:xfrm>
          <a:prstGeom prst="rect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38160" y="18288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Фиксаторы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0" y="278892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теперь снять болты M12 с основания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921240" y="1828800"/>
            <a:ext cx="1737360" cy="777240"/>
          </a:xfrm>
          <a:prstGeom prst="rect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12680" y="18288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Выгрузка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921240" y="278892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Поднять кабину краном, основание остаётся на месте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572000"/>
            <a:ext cx="11091672" cy="1463040"/>
          </a:xfrm>
          <a:prstGeom prst="rect">
            <a:avLst/>
          </a:prstGeom>
          <a:solidFill>
            <a:srgbClr val="FDE9DC"/>
          </a:solidFill>
          <a:ln w="12700">
            <a:solidFill>
              <a:srgbClr val="FDE9D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617720"/>
            <a:ext cx="10543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Правило безопасности. </a:t>
            </a:r>
            <a:pPr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Несущий фиксатор снимается только после подхвата. Масса каждого снимаемого вручную элемента должна быть указана на нём. Массу элементов надо будет подтвердить расчётом, значение 15 кг здесь ориентир.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 D · СЦЕНАРИИ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Схемы сборки и разборки по сценариям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66160" cy="822960"/>
          </a:xfrm>
          <a:prstGeom prst="rect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Производство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57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Сборка места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3566160" cy="356616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97480"/>
            <a:ext cx="411480" cy="411480"/>
          </a:xfrm>
          <a:prstGeom prst="ellipse">
            <a:avLst/>
          </a:prstGeom>
          <a:solidFill>
            <a:srgbClr val="5B6B75"/>
          </a:solidFill>
          <a:ln w="12700">
            <a:solidFill>
              <a:srgbClr val="5B6B7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6517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Основание на кондуктор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3355848"/>
            <a:ext cx="411480" cy="411480"/>
          </a:xfrm>
          <a:prstGeom prst="ellipse">
            <a:avLst/>
          </a:prstGeom>
          <a:solidFill>
            <a:srgbClr val="5B6B75"/>
          </a:solidFill>
          <a:ln w="12700">
            <a:solidFill>
              <a:srgbClr val="5B6B7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355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3101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Фиксация узла болтами и ремнями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7240" y="4014216"/>
            <a:ext cx="411480" cy="411480"/>
          </a:xfrm>
          <a:prstGeom prst="ellipse">
            <a:avLst/>
          </a:prstGeom>
          <a:solidFill>
            <a:srgbClr val="5B6B75"/>
          </a:solidFill>
          <a:ln w="12700">
            <a:solidFill>
              <a:srgbClr val="5B6B7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0142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96849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Прокладки и защита по карте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" y="4672584"/>
            <a:ext cx="411480" cy="411480"/>
          </a:xfrm>
          <a:prstGeom prst="ellipse">
            <a:avLst/>
          </a:prstGeom>
          <a:solidFill>
            <a:srgbClr val="5B6B75"/>
          </a:solidFill>
          <a:ln w="12700">
            <a:solidFill>
              <a:srgbClr val="5B6B7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46725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462686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Замер брутто и габарита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77240" y="5330952"/>
            <a:ext cx="411480" cy="411480"/>
          </a:xfrm>
          <a:prstGeom prst="ellipse">
            <a:avLst/>
          </a:prstGeom>
          <a:solidFill>
            <a:srgbClr val="5B6B75"/>
          </a:solidFill>
          <a:ln w="12700">
            <a:solidFill>
              <a:srgbClr val="5B6B7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5330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2852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Этикетка и чек-лист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297680" y="1645920"/>
            <a:ext cx="3566160" cy="822960"/>
          </a:xfrm>
          <a:prstGeom prst="rect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26280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Транспортировка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4526280" y="2057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Погрузка и крепление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297680" y="2468880"/>
            <a:ext cx="3566160" cy="356616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26280" y="2697480"/>
            <a:ext cx="411480" cy="411480"/>
          </a:xfrm>
          <a:prstGeom prst="ellipse">
            <a:avLst/>
          </a:prstGeom>
          <a:solidFill>
            <a:srgbClr val="5B6B75"/>
          </a:solidFill>
          <a:ln w="12700">
            <a:solidFill>
              <a:srgbClr val="5B6B7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2628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120640" y="26517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Захват за карманы или точки строповки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526280" y="3355848"/>
            <a:ext cx="411480" cy="411480"/>
          </a:xfrm>
          <a:prstGeom prst="ellipse">
            <a:avLst/>
          </a:prstGeom>
          <a:solidFill>
            <a:srgbClr val="5B6B75"/>
          </a:solidFill>
          <a:ln w="12700">
            <a:solidFill>
              <a:srgbClr val="5B6B7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26280" y="3355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120640" y="33101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Расстановка по плану загрузки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526280" y="4014216"/>
            <a:ext cx="411480" cy="411480"/>
          </a:xfrm>
          <a:prstGeom prst="ellipse">
            <a:avLst/>
          </a:prstGeom>
          <a:solidFill>
            <a:srgbClr val="5B6B75"/>
          </a:solidFill>
          <a:ln w="12700">
            <a:solidFill>
              <a:srgbClr val="5B6B7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26280" y="40142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120640" y="396849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Ремни и распорки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526280" y="4672584"/>
            <a:ext cx="411480" cy="411480"/>
          </a:xfrm>
          <a:prstGeom prst="ellipse">
            <a:avLst/>
          </a:prstGeom>
          <a:solidFill>
            <a:srgbClr val="5B6B75"/>
          </a:solidFill>
          <a:ln w="12700">
            <a:solidFill>
              <a:srgbClr val="5B6B7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526280" y="46725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5120640" y="462686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плёнки и меток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526280" y="5330952"/>
            <a:ext cx="411480" cy="411480"/>
          </a:xfrm>
          <a:prstGeom prst="ellipse">
            <a:avLst/>
          </a:prstGeom>
          <a:solidFill>
            <a:srgbClr val="5B6B75"/>
          </a:solidFill>
          <a:ln w="12700">
            <a:solidFill>
              <a:srgbClr val="5B6B7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526280" y="5330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5120640" y="52852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 состояния при приёмке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8046720" y="1645920"/>
            <a:ext cx="3566160" cy="822960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275320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Место установки</a:t>
            </a:r>
            <a:endParaRPr lang="en-US" sz="1800" dirty="0"/>
          </a:p>
        </p:txBody>
      </p:sp>
      <p:sp>
        <p:nvSpPr>
          <p:cNvPr id="45" name="Text 43"/>
          <p:cNvSpPr txBox="1"/>
          <p:nvPr/>
        </p:nvSpPr>
        <p:spPr>
          <a:xfrm>
            <a:off x="8275320" y="2057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Вскрытие и выдача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046720" y="2468880"/>
            <a:ext cx="3566160" cy="356616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275320" y="2697480"/>
            <a:ext cx="411480" cy="411480"/>
          </a:xfrm>
          <a:prstGeom prst="ellipse">
            <a:avLst/>
          </a:prstGeom>
          <a:solidFill>
            <a:srgbClr val="5B6B75"/>
          </a:solidFill>
          <a:ln w="12700">
            <a:solidFill>
              <a:srgbClr val="5B6B75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27532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8869680" y="26517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Приёмка и сверка мест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8275320" y="3355848"/>
            <a:ext cx="411480" cy="411480"/>
          </a:xfrm>
          <a:prstGeom prst="ellipse">
            <a:avLst/>
          </a:prstGeom>
          <a:solidFill>
            <a:srgbClr val="5B6B75"/>
          </a:solidFill>
          <a:ln w="12700">
            <a:solidFill>
              <a:srgbClr val="5B6B75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275320" y="3355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8869680" y="33101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Вскрытие в порядке 1–6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8275320" y="4014216"/>
            <a:ext cx="411480" cy="411480"/>
          </a:xfrm>
          <a:prstGeom prst="ellipse">
            <a:avLst/>
          </a:prstGeom>
          <a:solidFill>
            <a:srgbClr val="5B6B75"/>
          </a:solidFill>
          <a:ln w="12700">
            <a:solidFill>
              <a:srgbClr val="5B6B75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275320" y="40142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8869680" y="396849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Выдача по очереди монтажа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8275320" y="4672584"/>
            <a:ext cx="411480" cy="411480"/>
          </a:xfrm>
          <a:prstGeom prst="ellipse">
            <a:avLst/>
          </a:prstGeom>
          <a:solidFill>
            <a:srgbClr val="5B6B75"/>
          </a:solidFill>
          <a:ln w="12700">
            <a:solidFill>
              <a:srgbClr val="5B6B75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275320" y="46725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8869680" y="462686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 снимается перед установкой</a:t>
            </a:r>
            <a:endParaRPr lang="en-US" sz="1250" dirty="0"/>
          </a:p>
        </p:txBody>
      </p:sp>
      <p:sp>
        <p:nvSpPr>
          <p:cNvPr id="59" name="Shape 57"/>
          <p:cNvSpPr/>
          <p:nvPr/>
        </p:nvSpPr>
        <p:spPr>
          <a:xfrm>
            <a:off x="8275320" y="5330952"/>
            <a:ext cx="411480" cy="411480"/>
          </a:xfrm>
          <a:prstGeom prst="ellipse">
            <a:avLst/>
          </a:prstGeom>
          <a:solidFill>
            <a:srgbClr val="5B6B75"/>
          </a:solidFill>
          <a:ln w="12700">
            <a:solidFill>
              <a:srgbClr val="5B6B75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275320" y="5330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8869680" y="52852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Тара разбирается и складывается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 D · ЗНАКИ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Маркировка: пять полей на каждом месте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120640" cy="4297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F2A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45920"/>
            <a:ext cx="5120640" cy="914400"/>
          </a:xfrm>
          <a:prstGeom prst="rect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459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К-01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16459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КАБИНА · место 1 из 5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743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Масса брутто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880360" y="27432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___ кг (по факту взвешивания)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36499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Верх ↑ / центр тяжести ⊕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880360" y="336499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пиктограммы по ISO 780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98678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Точки строповки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880360" y="3986784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шт., отмечены оранжевым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60857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Порядок вскрытия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880360" y="4608576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→ 6, схема на боковой стороне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52303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Содержимое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880360" y="523036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кабина, панели, комплект крепежа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1645920"/>
            <a:ext cx="5605272" cy="201168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63640" y="1810512"/>
            <a:ext cx="5148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Правила размещения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2240280"/>
            <a:ext cx="51480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Метка на трёх видимых сторонах, не на съёмных панелях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 узла крупно, читается с 3 м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Цвет: оранжевый только для точек подъёма и опасных зон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035040" y="3840480"/>
            <a:ext cx="5605272" cy="2103120"/>
          </a:xfrm>
          <a:prstGeom prst="rect">
            <a:avLst/>
          </a:prstGeom>
          <a:solidFill>
            <a:srgbClr val="FDE9DC"/>
          </a:solidFill>
          <a:ln w="12700">
            <a:solidFill>
              <a:srgbClr val="FDE9D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63640" y="4005072"/>
            <a:ext cx="5148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получит монтажник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263640" y="4434840"/>
            <a:ext cx="5148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 места совпадает с кодом узла на схеме сборки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Стрелка порядка вскрытия и знак «не снимать до подхвата»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Знаки безопасности и подробная схема, модуль E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 E · ВИЗУАЛЬНАЯ КОММУНИКАЦИЯ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Знаки безопасности на каждом месте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66160" cy="214884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11680"/>
            <a:ext cx="1188720" cy="1069848"/>
          </a:xfrm>
          <a:prstGeom prst="triangle">
            <a:avLst/>
          </a:prstGeom>
          <a:solidFill>
            <a:srgbClr val="FFC20E"/>
          </a:solidFill>
          <a:ln w="381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240280"/>
            <a:ext cx="1188720" cy="77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2240280" y="19659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Тяжёлый груз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240280" y="26974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масса на этикетке, не поднимать вручную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645920"/>
            <a:ext cx="3566160" cy="214884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011680"/>
            <a:ext cx="1188720" cy="118872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C810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2514600"/>
            <a:ext cx="54864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3017520"/>
            <a:ext cx="822960" cy="-822960"/>
          </a:xfrm>
          <a:prstGeom prst="line">
            <a:avLst/>
          </a:prstGeom>
          <a:noFill/>
          <a:ln w="76200">
            <a:solidFill>
              <a:srgbClr val="C810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89320" y="19659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стоять под грузом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989320" y="26974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опасная зона при подъёме краном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1645920"/>
            <a:ext cx="3566160" cy="214884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2011680"/>
            <a:ext cx="1188720" cy="1188720"/>
          </a:xfrm>
          <a:prstGeom prst="ellipse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0" y="20116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800" dirty="0"/>
          </a:p>
        </p:txBody>
      </p:sp>
      <p:sp>
        <p:nvSpPr>
          <p:cNvPr id="19" name="Text 17"/>
          <p:cNvSpPr txBox="1"/>
          <p:nvPr/>
        </p:nvSpPr>
        <p:spPr>
          <a:xfrm>
            <a:off x="9738360" y="19659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Сначала подхват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738360" y="26974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фиксаторы снимать только после строповки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977640"/>
            <a:ext cx="3566160" cy="214884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4343400"/>
            <a:ext cx="1188720" cy="1188720"/>
          </a:xfrm>
          <a:prstGeom prst="roundRect">
            <a:avLst>
              <a:gd name="adj" fmla="val 11538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43000" y="4663440"/>
            <a:ext cx="548640" cy="548640"/>
          </a:xfrm>
          <a:prstGeom prst="ellipse">
            <a:avLst/>
          </a:prstGeom>
          <a:solidFill>
            <a:srgbClr val="E8590C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240280" y="42976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Точка строповки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2240280" y="50292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оранжевая метка, только для подъёма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97680" y="3977640"/>
            <a:ext cx="3566160" cy="214884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4343400"/>
            <a:ext cx="1188720" cy="1188720"/>
          </a:xfrm>
          <a:prstGeom prst="rect">
            <a:avLst/>
          </a:prstGeom>
          <a:solidFill>
            <a:srgbClr val="FFFFFF"/>
          </a:solidFill>
          <a:ln w="38100">
            <a:solidFill>
              <a:srgbClr val="11111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72000" y="43434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↑↑</a:t>
            </a:r>
            <a:endParaRPr lang="en-US" sz="4400" dirty="0"/>
          </a:p>
        </p:txBody>
      </p:sp>
      <p:sp>
        <p:nvSpPr>
          <p:cNvPr id="29" name="Text 27"/>
          <p:cNvSpPr txBox="1"/>
          <p:nvPr/>
        </p:nvSpPr>
        <p:spPr>
          <a:xfrm>
            <a:off x="5989320" y="42976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Верх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989320" y="50292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стрелки на двух сторонах места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46720" y="3977640"/>
            <a:ext cx="3566160" cy="214884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21040" y="4343400"/>
            <a:ext cx="1188720" cy="1188720"/>
          </a:xfrm>
          <a:prstGeom prst="rect">
            <a:avLst/>
          </a:prstGeom>
          <a:solidFill>
            <a:srgbClr val="FFFFFF"/>
          </a:solidFill>
          <a:ln w="38100">
            <a:solidFill>
              <a:srgbClr val="11111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595360" y="4617720"/>
            <a:ext cx="640080" cy="6400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1111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03920" y="4937760"/>
            <a:ext cx="822960" cy="0"/>
          </a:xfrm>
          <a:prstGeom prst="line">
            <a:avLst/>
          </a:prstGeom>
          <a:noFill/>
          <a:ln w="38100">
            <a:solidFill>
              <a:srgbClr val="11111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15400" y="4526280"/>
            <a:ext cx="0" cy="822960"/>
          </a:xfrm>
          <a:prstGeom prst="line">
            <a:avLst/>
          </a:prstGeom>
          <a:noFill/>
          <a:ln w="38100">
            <a:solidFill>
              <a:srgbClr val="11111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738360" y="42976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Центр тяжести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9738360" y="50292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отметка на каждом месте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6309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Знаки условные, на макете. В производство знаки берутся по ISO 7010 и ISO 780.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 E · СИСТЕМА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Цветовой код: пять цветов, у каждого одно значение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280160" cy="7498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11680" y="164592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Красный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114800" y="164592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Запрет: не стоять под грузом, не снимать раньше подхвата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1280160" cy="749808"/>
          </a:xfrm>
          <a:prstGeom prst="rect">
            <a:avLst/>
          </a:prstGeom>
          <a:solidFill>
            <a:srgbClr val="FFC20E"/>
          </a:solidFill>
          <a:ln w="12700">
            <a:solidFill>
              <a:srgbClr val="FFC20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11680" y="2542032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Жёлтый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2542032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Предупреждение: тяжёлый груз, риск опрокидывания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438144"/>
            <a:ext cx="1280160" cy="749808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011680" y="3438144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Синий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3438144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Обязательное действие: сначала строповка, затем фиксаторы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334256"/>
            <a:ext cx="1280160" cy="749808"/>
          </a:xfrm>
          <a:prstGeom prst="rect">
            <a:avLst/>
          </a:prstGeom>
          <a:solidFill>
            <a:srgbClr val="009A44"/>
          </a:solidFill>
          <a:ln w="12700">
            <a:solidFill>
              <a:srgbClr val="009A4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011680" y="4334256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Зелёный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0" y="4334256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Безопасное состояние: путь эвакуации тары, склад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230368"/>
            <a:ext cx="1280160" cy="749808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011680" y="5230368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Оранжевый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114800" y="5230368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 проекта: только точки строповки и подъёма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38160" y="1645920"/>
            <a:ext cx="3502152" cy="4343400"/>
          </a:xfrm>
          <a:prstGeom prst="rect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66760" y="1810512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Правило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366760" y="2240280"/>
            <a:ext cx="3044952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4E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цвет, одно значение на всех местах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4E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Красный и жёлтый только для безопасности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4E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Бренд и маркетинг не используют эти цвета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4E8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Знаки не закрываются съёмными панелями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 E · ВСПОМОГАТЕЛЬНАЯ ИНФОРМАЦИЯ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Информация на боковой стороне: три уровня чтения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669280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F2A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45920"/>
            <a:ext cx="5669280" cy="914400"/>
          </a:xfrm>
          <a:prstGeom prst="rect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459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К-01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16459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КАБИНА · место 1 из 5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697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___ кг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291840" y="2697480"/>
            <a:ext cx="64008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9184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↑↑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114800" y="2697480"/>
            <a:ext cx="685800" cy="621792"/>
          </a:xfrm>
          <a:prstGeom prst="triangle">
            <a:avLst/>
          </a:prstGeom>
          <a:solidFill>
            <a:srgbClr val="FFC20E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83480" y="269748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Порядок вскрытия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3840480"/>
            <a:ext cx="457200" cy="457200"/>
          </a:xfrm>
          <a:prstGeom prst="ellipse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344168" y="3840480"/>
            <a:ext cx="457200" cy="457200"/>
          </a:xfrm>
          <a:prstGeom prst="ellipse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344168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911096" y="3840480"/>
            <a:ext cx="457200" cy="457200"/>
          </a:xfrm>
          <a:prstGeom prst="ellipse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911096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478024" y="3840480"/>
            <a:ext cx="457200" cy="45720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478024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044952" y="3840480"/>
            <a:ext cx="457200" cy="457200"/>
          </a:xfrm>
          <a:prstGeom prst="ellipse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044952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11880" y="3840480"/>
            <a:ext cx="457200" cy="457200"/>
          </a:xfrm>
          <a:prstGeom prst="ellipse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6118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4480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Содержимое: кабина, панели, комплект крепежа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77240" y="4937760"/>
            <a:ext cx="86868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F2A3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" y="49377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828800" y="493776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схема сборки и перечень содержимого этого места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92240" y="1645920"/>
            <a:ext cx="5148072" cy="137160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720840" y="1810512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Уровень 1. С расстояния 3 м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720840" y="2240280"/>
            <a:ext cx="4690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 места, масса, верх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492240" y="3154680"/>
            <a:ext cx="5148072" cy="137160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720840" y="3319272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Уровень 2. Вблизи, 1 м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6720840" y="3749040"/>
            <a:ext cx="4690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Знаки, порядок вскрытия, содержимое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92240" y="4663440"/>
            <a:ext cx="5148072" cy="1371600"/>
          </a:xfrm>
          <a:prstGeom prst="rect">
            <a:avLst/>
          </a:prstGeom>
          <a:solidFill>
            <a:srgbClr val="FDE9DC"/>
          </a:solidFill>
          <a:ln w="12700">
            <a:solidFill>
              <a:srgbClr val="FDE9D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720840" y="4828032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Уровень 3. По QR-коду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6720840" y="5257800"/>
            <a:ext cx="4690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Полная схема сборки, инструкция, перечень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 E · ПОДДЕРЖКА БРЕНДА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Бренд на упаковке: спокойно и не в ущерб безопасности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120640" cy="4389120"/>
          </a:xfrm>
          <a:prstGeom prst="rect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3774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ВОЗДУХ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2918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1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лифтовое оборудование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4114800"/>
            <a:ext cx="365760" cy="36576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54864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макет торцевой панели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645920"/>
            <a:ext cx="5605272" cy="201168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63640" y="1810512"/>
            <a:ext cx="5148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показываем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240280"/>
            <a:ext cx="51480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Название и знак на двух торцах места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Графит и один акцентный цвет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Пометка «возвратная тара» на многооборотных основаниях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3840480"/>
            <a:ext cx="5605272" cy="2194560"/>
          </a:xfrm>
          <a:prstGeom prst="rect">
            <a:avLst/>
          </a:prstGeom>
          <a:solidFill>
            <a:srgbClr val="FDE9DC"/>
          </a:solidFill>
          <a:ln w="12700">
            <a:solidFill>
              <a:srgbClr val="FDE9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63640" y="4005072"/>
            <a:ext cx="5148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Чего не делаем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4434840"/>
            <a:ext cx="5148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размещаем бренд поверх знаков безопасности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используем красный и жёлтый для оформления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перегружаем упаковку текстом рекламного характера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F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Итоги проекта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5146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маркированных мест вместо одного ящика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520440" y="16459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3520440" y="25146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типа оснований, 1 размер болта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6459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мм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5146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запас по высоте: главный риск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098280" y="16459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5,1 м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9098280" y="25146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13,6 м занято в еврофуре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7490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решает концепция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25196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1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 в пути, безопасное вскрытие в правильном порядке, выдача узлов по очереди монтажа, возврат и сортировка тары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37490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ещё нужно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425196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1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изготовителя, расчёт оснований и креплений, макет для проверки габарита, испытания на вибрацию и удар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 G · ЗАЩИТА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Возможные вопросы и короткие ответы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440680" cy="219456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1051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не один большой ящик?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40280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Узлы разные по массе и уязвимости. Отдельные места проще принять, открыть по очереди и выдать в порядке монтажа.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1645920"/>
            <a:ext cx="5440680" cy="219456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0" y="181051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решён риск по высоте?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240280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Запас 100 мм. Уменьшаем основание и верхнюю защиту или опускаем изделие в основание, габарит изделия не меняется. Нужен замер машины.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5440680" cy="219456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1879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основания не одинаковые?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617720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Интерфейс общий, несущая способность нет. Основания кабины и противовеса считаются отдельно.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172200" y="4023360"/>
            <a:ext cx="5440680" cy="219456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0" y="41879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 возвратом тары?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4617720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Основания стальные, многооборотные. Панели и прокладки сменные и сортируются по материалам. Возврат нужно согласовать с логистикой.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Транспортно-монтажная упаковка лифта «Воздух»: защита проекта</dc:title>
  <dc:subject>PptxGenJS Presentation</dc:subject>
  <dc:creator>PptxGenJS</dc:creator>
  <cp:lastModifiedBy>PptxGenJS</cp:lastModifiedBy>
  <cp:revision>1</cp:revision>
  <dcterms:created xsi:type="dcterms:W3CDTF">2026-09-29T09:19:56Z</dcterms:created>
  <dcterms:modified xsi:type="dcterms:W3CDTF">2026-09-29T09:19:56Z</dcterms:modified>
</cp:coreProperties>
</file>