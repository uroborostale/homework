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ПРОМЫШЛЕННЫЙ ДИЗАЙН · МОДУЛИ A–B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Транспортно-монтажная упаковка комплекта лифта «Воздух»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задачи, пользователей и сценариев · концептуальный поиск · выбор направления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Ершов Е.М., ПИ 4-1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0" y="4206240"/>
            <a:ext cx="2194560" cy="1828800"/>
          </a:xfrm>
          <a:prstGeom prst="rect">
            <a:avLst/>
          </a:prstGeom>
          <a:solidFill>
            <a:srgbClr val="E8590C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2194560"/>
            <a:ext cx="1005840" cy="1828800"/>
          </a:xfrm>
          <a:prstGeom prst="rect">
            <a:avLst/>
          </a:prstGeom>
          <a:solidFill>
            <a:srgbClr val="34444D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2194560"/>
            <a:ext cx="1005840" cy="1828800"/>
          </a:xfrm>
          <a:prstGeom prst="rect">
            <a:avLst/>
          </a:prstGeom>
          <a:solidFill>
            <a:srgbClr val="34444D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914400"/>
            <a:ext cx="2194560" cy="1097280"/>
          </a:xfrm>
          <a:prstGeom prst="rect">
            <a:avLst/>
          </a:prstGeom>
          <a:solidFill>
            <a:srgbClr val="34444D"/>
          </a:solidFill>
          <a:ln w="12700">
            <a:solidFill>
              <a:srgbClr val="5B6B7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тара, а система от комплектации до монтажа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5836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1463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Компонент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Габариты, мм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Масса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Кабина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2100 × 1600 × 2300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600 кг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Двери шахты, 4 шт.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 × 2100 каждая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80 кг каждая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Лебёдка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 × 600 × 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350 кг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Противовес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 × 600 × 2200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400 кг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Пульт управления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 × 400 × 200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указана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29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при ж/д и авто-перевозке, удобное вскрытие, перемещение узлов на площадке, меньше типоразмеров, повторное применение или утилизация.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80960" y="1737360"/>
            <a:ext cx="3931920" cy="201168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0" y="1874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1670 кг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788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масса компонентов без пульта и упаковки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680960" y="3931920"/>
            <a:ext cx="3931920" cy="201168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4069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 × 2,45 × 2,6 м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4846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еврофура: у кабины высотой 2,3 м номинальный запас только 300 мм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 требований по приоритету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и фиксация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93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смещения, опрокидывания, контакта деталей; влага и пыль; вибрация и удары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88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Безопасная работа с тяжёлым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136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Точки строповки и захвата, центр тяжести, без ручной переноски кабины и противовеса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931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Понятная распаковка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279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крепежу, маркировка порядка открытия и ориентации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074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Монтажная логика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422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Узлы выдаются в порядке монтажа, упаковка не блокирует доступ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173736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22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Стандартизация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1993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панелей, опор и крепежа при разных уровнях защиты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288036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2788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Повторное использование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3136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Разборность, ремонтопригодность, сортировка материалов, компактное хранение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402336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3931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Логистика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4279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Габариты, масса брутто, размещение в кузове, точки крепления, погрузка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ГРУППЫ ПОЛЬЗОВАТЕЛЕЙ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Пользователи: приоритет у монтажников и логистики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55138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Группа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Задача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нужно от упаковки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Производство и комплектовщики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Упаковать комплект без ошибок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Быстрая сборка тары, повторяемая схема, контроль комплектации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Склад и погрузчики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Переместить и загрузить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Устойчивое основание, доступ вил, масса и центр тяжести, точки строповки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Перевозчики авто и ж/д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Сохранить груз в пути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Надёжная фиксация, защита от ударов, вибрации и влаги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Приёмка на объекте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Проверить состояние и комплект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Идентификация мест, видимые повреждения, перечень содержимого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Монтажная бригада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Извлечь и установить узлы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Быстрый доступ, последовательная маркировка, понятное снятие фиксаторов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Охрана труда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Предотвратить травмы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Предупреждения, безопасный порядок вскрытия, опасные зоны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Закупки и логистика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Снизить стоимость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Минимум типоразмеров, доступные материалы, заполнение кузова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Экология и утилизация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Сократить отходы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Разделяемые материалы, маркировка материалов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ТЕКУЩИЕ РЕШЕНИЯ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Аналоги: у каждого решения своя слабость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06040" cy="3291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Деревянный ящик или обрешётка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Жёсткая защита, простота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576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8862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 древесины, неудобное вскрытие, после монтажа отход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46704" y="1645920"/>
            <a:ext cx="2606040" cy="3291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9584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Паллеты и отдельные короба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2560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Удобны для погрузчика, раздельная выдача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36576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29584" y="38862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 мест, риск потери мелочи, сложнее контроль комплекта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44768" y="1645920"/>
            <a:ext cx="2606040" cy="3291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27648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Плёнка и мягкие прокладки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27648" y="2560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 и дёшево, защита от грязи и царапин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36576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27648" y="38862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защищают тяжёлые узлы от удара, сдавливания и смещения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42832" y="1645920"/>
            <a:ext cx="2606040" cy="3291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25712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Возвратная многооборотная тара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25712" y="2560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25712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одноразовых материалов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25712" y="36576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125712" y="38862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обратная логистика, склад, стандартные маршруты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257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исследовать гибрид, то есть общие стандартные основания и защитные элементы плюс специальные фиксаторы для хрупких и тяжёлых узлов.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ситуация: пять противоречий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035040" cy="73152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↔ масса и объём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Максимум защиты против минимума упаковки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035040" cy="73152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60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Унификация ↔ геометрия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80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элементы против разных размеров и масс узлов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6035040" cy="73152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429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Плотная загрузка ↔ доступ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749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Компактный кузов против удобного доступа на объекте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6035040" cy="73152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2976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Одноразовость ↔ возврат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6177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Простота против обратной логистики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6035040" cy="73152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166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Быстрая распаковка ↔ жёсткость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486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против безопасности до последнего этапа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1645920"/>
            <a:ext cx="4690872" cy="42062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1810512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уточнить до фиксации концепции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240280"/>
            <a:ext cx="42336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ли менять ориентацию при перевозке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Допустимо ли штабелирование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разрешённые точки захвата и строповки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поверхности нельзя нагружать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ли влагозащита и какая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 тары и обратный рейс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объекта: шахта, проёмы, кран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Точная масса пульта и упаковки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 ИСПОЛЬЗОВАНИЯ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Цепочка от комплектации до возврата тары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57400" cy="82296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 Комплектация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Сверка списка, маркированные места, фиксация тяжёлых узлов, проверка массы и габарита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578608" y="192024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2057400" cy="82296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1828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  Погрузка и перевозка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83464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Захват только за зоны, крепление по массе и центру тяжести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18888" y="192024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1828800"/>
            <a:ext cx="2057400" cy="82296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1828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 Приёмка и распаковка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83464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Идентификация мест, снятие фиксаторов по порядку, механизированная выгрузка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059168" y="192024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269480" y="1828800"/>
            <a:ext cx="2057400" cy="82296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60920" y="1828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  Монтаж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283464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Подача по очереди монтажа, защита снимается перед использованием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299448" y="192024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509760" y="1828800"/>
            <a:ext cx="2057400" cy="82296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0" y="1828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 Возврат или утилизация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283464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Складывание, ремонт, сортировка по материалам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29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Критические точки: упаковочный габарит кабины, фиксация тяжёлых узлов, безопасность вскрытия, механизированный подъём, порядок выдачи монтажникам.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КОНЦЕПТУАЛЬНЫЙ ПОИСК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B: три направления концепции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4480560"/>
          </a:xfrm>
          <a:prstGeom prst="rect">
            <a:avLst/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Направление 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Отдельные закрытые ящики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91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Понятная защита, простое изготовление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 материала, трудоёмкое вскрытие, ящик мешает доступу, больше отходов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645920"/>
            <a:ext cx="3566160" cy="4480560"/>
          </a:xfrm>
          <a:prstGeom prst="rect">
            <a:avLst/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Направление Б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Открытые многооборотные рамы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291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 узла, ремонтопригодность, повторное использование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Минусы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Грязь и влага, обратная логистика, масса и цена рамы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1645920"/>
            <a:ext cx="3566160" cy="4480560"/>
          </a:xfrm>
          <a:prstGeom prst="rect">
            <a:avLst/>
          </a:prstGeom>
          <a:solidFill>
            <a:srgbClr val="1F2A30"/>
          </a:solidFill>
          <a:ln w="38100">
            <a:solidFill>
              <a:srgbClr val="E859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Направление В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Модульная гибридная система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Плюсы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291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по риску каждого узла, основание служит средством перемещения, унификация крепежа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Минусы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Сложные соединения, риск избытка переходников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Выбрано В: «основание + фиксация + съёмная защита»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4206240" cy="1371600"/>
          </a:xfrm>
          <a:prstGeom prst="rect">
            <a:avLst/>
          </a:prstGeom>
          <a:solidFill>
            <a:srgbClr val="FDE9DC"/>
          </a:solidFill>
          <a:ln w="19050">
            <a:solidFill>
              <a:srgbClr val="E8590C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4206240" cy="1371600"/>
          </a:xfrm>
          <a:prstGeom prst="rect">
            <a:avLst/>
          </a:prstGeom>
          <a:noFill/>
          <a:ln/>
        </p:spPr>
        <p:txBody>
          <a:bodyPr wrap="square" lIns="127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съёмная защита (под каждый узел)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0" y="2194560"/>
            <a:ext cx="2743200" cy="777240"/>
          </a:xfrm>
          <a:prstGeom prst="rect">
            <a:avLst/>
          </a:prstGeom>
          <a:solidFill>
            <a:srgbClr val="34444D"/>
          </a:solidFill>
          <a:ln w="12700">
            <a:solidFill>
              <a:srgbClr val="3444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2194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УЗЕЛ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3108960"/>
            <a:ext cx="274320" cy="457200"/>
          </a:xfrm>
          <a:prstGeom prst="rect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3108960"/>
            <a:ext cx="274320" cy="457200"/>
          </a:xfrm>
          <a:prstGeom prst="rect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фиксаторы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4206240" cy="64008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5661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типовое основание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297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зоны захвата: вилы и стропы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17373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режима работы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21945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Транспорт: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удерживать узлы, защищать, позволять закрепить груз в авто и на ж/д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открываться предсказуемо, давать доступ к одному узлу, сохранять защиту остальных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657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выбрано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406908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 остальных решает две главные задачи: сохранить оборудование в пути и безопасно выдать его монтажникам. Комплект не сводится в один ящик: пять маркированных мест на общей конструктивной логике.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ЭСКИЗНЫЕ РЕШЕНИЯ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 по узлам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21488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 каркас-основание, фиксация за конструктивные точки, съёмные угловые и верхние защиты. Габарит упаковки ≈ 2280 × 1800 × 2500 мм.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2148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Двери (4 шт.)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2402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Отдельная кассета с разделителями и защитой кромок, извлечение по одной. Габарит ≈ 2250 × 1100 мм, высота не назначена. Комплект ≈ 320 кг.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566160" cy="2148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Лебёдка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2402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Низкий силовой поддон, локальная защита выступов. Кожух снимается, не ослабляя крепление лебёдки. ≈ 350 кг.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3566160" cy="2148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142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Противовес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57200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Устойчивый вертикальный модуль, широкое основание против опрокидывания, верхняя фиксация до подхвата. Ориентацию подтвердить у изготовителя.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3977640"/>
            <a:ext cx="3566160" cy="2148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4142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Пульт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57200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Отдельное закрытое место: защита от влаги и ударов, кабели и документация вместе. Не прятать в полости другого узла.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46720" y="3977640"/>
            <a:ext cx="3566160" cy="214884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39776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Принцип: нагрузку несёт основание, декоративные панели не нагружаются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ФУНКЦИОНАЛЬНАЯ ПРОВЕРКА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размерный риск: кабина в еврофуре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Ширина, мм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949440" cy="548640"/>
          </a:xfrm>
          <a:prstGeom prst="rect">
            <a:avLst/>
          </a:prstGeom>
          <a:solidFill>
            <a:srgbClr val="D5DADD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6467234" cy="54864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5956663" cy="5486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изделие 2100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974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упаковка 2280 из 2450: запас 170 мм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Высота, мм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6949440" cy="548640"/>
          </a:xfrm>
          <a:prstGeom prst="rect">
            <a:avLst/>
          </a:prstGeom>
          <a:solidFill>
            <a:srgbClr val="D5DADD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49040"/>
            <a:ext cx="6682154" cy="54864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749040"/>
            <a:ext cx="6147582" cy="5486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749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изделие 2300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43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упаковка 2500 из 2600: запас 100 мм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93776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Замки, ремни и защита должны входить в заявленный габарит. Высоту проёма и полезную высоту конкретной машины нужно замерить. Если запас мал, пересматривать основание и верхнюю защиту, а не габариты изделия.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46720" y="1737360"/>
            <a:ext cx="3593592" cy="201168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1874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мм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2788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 по высоте на основание, защиту и зазоры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3931920"/>
            <a:ext cx="3593592" cy="219456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75320" y="40965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доказано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4526280"/>
            <a:ext cx="3136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загрузки пяти мест на 13,6 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Зазоры для крепления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выгрузки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СТАНДАРТИЗАЦИЯ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Унифицируем интерфейсы, а не размеры ящиков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017520" cy="12344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основания и расположение зон захвата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49040" y="1645920"/>
            <a:ext cx="3017520" cy="12344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164592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соединения съёмной защиты с основанием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3017520" cy="12344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Ограниченная номенклатура крепежа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3063240"/>
            <a:ext cx="3017520" cy="12344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30632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Сменные мягкие прокладки для контакта с изделием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3017520" cy="12344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4805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Маркировка: код узла, масса брутто, верх/низ, порядок открытия, точки подъёма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4480560"/>
            <a:ext cx="3017520" cy="12344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31920" y="44805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Разборка и складывание ненужных после монтажа элементов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23760" y="1645920"/>
            <a:ext cx="4416552" cy="406908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Граница унификации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23774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Силовые основания кабины и противовеса нельзя считать одинаковыми без расчёта.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393192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Унификация интерфейса допустима. Унификация несущей способности «по аналогии» недопустима.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ЭРГОНОМИКА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Эргономическая проверка по сценариям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566160"/>
                <a:gridCol w="2770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Операция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Проблема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Решение в концепции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Проверить на макете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Найти узел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Маркировка закрыта соседним грузом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Код узла на нескольких видимых сторонах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Читается ли после загрузки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Поднять упаковку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Неясно, куда вилы и стропы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Выделенные зоны захвата и точки подъёма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Доступны ли при реальной расстановке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Открыть защиту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Тяжёлая панель в руках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Управляемые съёмные элементы, порядок снятия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Масса элемента, нужен ли второй работник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Ослабить фиксацию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Узел смещается или опрокидывается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Сначала подхват, потом снятие фиксаторов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Доступ к крепежу вне опасной зоны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Извлечь дверь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Остальные теряют опору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Независимые разделители и фиксаторы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Устойчивость кассеты после извлечения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Убрать пустую тару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Крупные элементы перекрывают проход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Разборка и компактное складирование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Объём сложенной тары, время разборки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Последовательность задаётся конструкцией, нумерацией операций и видимыми обозначениями, а не догадкой пользователя.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ФУНКЦИОНАЛЬНАЯ ПРОВЕРКА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Монтажная пригодность: шесть шагов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14630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28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Принять и идентифицировать все места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14630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92024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28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подъёмное оборудование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566160" cy="14630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92024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828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Снять защиту без потери устойчивости узла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566160" cy="14630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56616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Поочерёдно извлечь компоненты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97680" y="3474720"/>
            <a:ext cx="3566160" cy="14630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65760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356616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Сохранить защиту неиспользуемых деталей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46720" y="3474720"/>
            <a:ext cx="3566160" cy="14630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65760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356616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 или вернуть тару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303520"/>
            <a:ext cx="11091672" cy="82296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3035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шаг требует снять несущий фиксатор раньше, чем узел надёжно подхвачен, конструкцию нужно переработать.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этап: модуль C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7373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3D-компоновка упакованных узлов в габарите еврофуры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82880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995160" y="17373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габарит кабины с основанием и верхней защитой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926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Несущие основания и фиксаторы кабины, лебёдки, противовеса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926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Кассета дверей с безопасным извлечением одной двери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148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разборки: что, кем и в каком порядке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420624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41148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Номенклатура материалов, крепежа и возвратных деталей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соответствие габаритам подтверждаются расчётами, чертежами и проверкой на макете, а не эскизом.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Транспортно-монтажная упаковка комплекта лифта «Воздух»</dc:title>
  <dc:subject>PptxGenJS Presentation</dc:subject>
  <dc:creator>PptxGenJS</dc:creator>
  <cp:lastModifiedBy>PptxGenJS</cp:lastModifiedBy>
  <cp:revision>1</cp:revision>
  <dcterms:created xsi:type="dcterms:W3CDTF">2026-09-29T08:52:14Z</dcterms:created>
  <dcterms:modified xsi:type="dcterms:W3CDTF">2026-09-29T08:52:14Z</dcterms:modified>
</cp:coreProperties>
</file>