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ПРОМЫШЛЕННЫЙ ДИЗАЙН · МОДУЛИ C–D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8412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Упаковка лифта «Воздух»: материалы и чертежи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 и производственная реализуемость · габаритные чертежи · схемы сборки и разборки по сценариям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Ершов Е.М., ПИ 4-1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0" y="4206240"/>
            <a:ext cx="2194560" cy="1828800"/>
          </a:xfrm>
          <a:prstGeom prst="rect">
            <a:avLst/>
          </a:prstGeom>
          <a:solidFill>
            <a:srgbClr val="E8590C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0" y="2194560"/>
            <a:ext cx="1005840" cy="1828800"/>
          </a:xfrm>
          <a:prstGeom prst="rect">
            <a:avLst/>
          </a:prstGeom>
          <a:solidFill>
            <a:srgbClr val="34444D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332720" y="2194560"/>
            <a:ext cx="1005840" cy="1828800"/>
          </a:xfrm>
          <a:prstGeom prst="rect">
            <a:avLst/>
          </a:prstGeom>
          <a:solidFill>
            <a:srgbClr val="34444D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0" y="914400"/>
            <a:ext cx="2194560" cy="1097280"/>
          </a:xfrm>
          <a:prstGeom prst="rect">
            <a:avLst/>
          </a:prstGeom>
          <a:solidFill>
            <a:srgbClr val="34444D"/>
          </a:solidFill>
          <a:ln w="12700">
            <a:solidFill>
              <a:srgbClr val="5B6B7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ИСХОДНЫЕ УСЛОВИЯ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Допущения: в задании этих данных нет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5669280"/>
                <a:gridCol w="24048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Параметр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Принято в проекте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Статус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Кабина: упаковочный габарит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2280 × 1800 × 2500 мм (основание 150 + изделие 2300 + верхняя защита 50)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эскиз из модуля B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Кассета дверей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2250 × 1100 мм в плане, высота ≈ 450 мм (4 двери с разделителями)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толщина дверей неизвестна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Противовес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1400 × 800 × 2400 мм, вертикально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ориентацию подтвердить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Лебёдка и пульт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поддон 1000 × 800 × 800; короб 700 × 500 × 300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оценка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Масса брутто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 2,0–2,2 т: узлы 1670 кг + упаковка ≈ 20 % + пульт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оценка, нужен расчёт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Кузов еврофуры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 × 2,45 × 2,6 м, номинально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замерить конкретную машину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623560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размеры упаковки ниже проектные. Они нужны, чтобы проверить концепцию, и должны быть заменены данными изготовителя лифта после уточнения.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C · КОНСТРУКЦИЯ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3D-концепт: конструктор из трёх типов оснований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691640"/>
            <a:ext cx="3291840" cy="640080"/>
          </a:xfrm>
          <a:prstGeom prst="rect">
            <a:avLst/>
          </a:prstGeom>
          <a:solidFill>
            <a:srgbClr val="FDE9DC"/>
          </a:solidFill>
          <a:ln w="19050">
            <a:solidFill>
              <a:srgbClr val="E8590C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съёмная защита: панели на быстросъёмных замках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05840" y="2606040"/>
            <a:ext cx="2926080" cy="548640"/>
          </a:xfrm>
          <a:prstGeom prst="rect">
            <a:avLst/>
          </a:prstGeom>
          <a:solidFill>
            <a:srgbClr val="D5DADD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" y="26060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мягкие сменные прокладки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88720" y="3429000"/>
            <a:ext cx="2560320" cy="822960"/>
          </a:xfrm>
          <a:prstGeom prst="rect">
            <a:avLst/>
          </a:prstGeom>
          <a:solidFill>
            <a:srgbClr val="34444D"/>
          </a:solidFill>
          <a:ln w="12700">
            <a:solidFill>
              <a:srgbClr val="34444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342900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УЗЕЛ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005840" y="4526280"/>
            <a:ext cx="2926080" cy="457200"/>
          </a:xfrm>
          <a:prstGeom prst="rect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526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фиксаторы: болты M12, ремни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5257800"/>
            <a:ext cx="3291840" cy="64008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2578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сварное основание с карманами под вилы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691640"/>
          <a:ext cx="706831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743200"/>
                <a:gridCol w="267919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Место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Основание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Защита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Кабина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1: рама 2280 × 1800, 150 мм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каркас-кожух: 4 угла + верх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Противовес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1: та же логика, шире база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стойки и хомут верха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Лебёдка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2: силовой поддон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кожух-колпак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Кассета дверей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2: плоский поддон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крышка с разделителями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Пульт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тип 3: короб-контейнер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встроена в короб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4572000" y="5212080"/>
            <a:ext cx="7068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Силовые основания кабины и противовеса общие по интерфейсу (карманы, точки строповки, посадка защиты), но рассчитываются отдельно.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C · МАТЕРИАЛЫ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Материалы: сталь несёт, панели защищают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931920"/>
                <a:gridCol w="3017520"/>
                <a:gridCol w="20391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Элемент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Материал (предложение)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Зачем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После использования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Основания, стойки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Сталь, профильная труба, сварка, покраска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Несущая способность, многооборотность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Возврат, ремонт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Панели защиты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Сотовый полипропилен или фанера 12 мм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Лёгкие, влагостойкие, снимаются вручную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Сортировка по материалу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Прокладки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Вспененный полиэтилен, сменные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Мягкий контакт, без царапин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Замена, переработка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Кромки и углы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Угловые профили из ПЭ или картона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Защита кромок дверей и кабины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Утилизация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Влагозащита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Стрейч-плёнка, влагопоглотитель, пакеты для пульта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Защита от влаги и пыли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Раздельный сбор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Крепёж и ремни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Болты M12 одного размера, храповые ремни 50 мм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Один ключ на всю систему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Возврат в комплекте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Материалы и сечения нужно подтвердить расчётом нагрузок и испытаниями на макете. Здесь это исходный выбор.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C · ТЕХНОЛОГИЧНОСТЬ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Производственная реализуемость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440680" cy="21945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Сварные основания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4028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Резка профиля, сварка в кондукторе, порошковая покраска. Обычная слесарная технология, два типоразмера рам.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089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Риск: коробление рамы 2280 мм, нужен кондуктор и контроль плоскостности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72200" y="1645920"/>
            <a:ext cx="5440680" cy="21945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0" y="17830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Панели защиты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6400800" y="224028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Раскрой на ЧПУ или лазером из листа, единые пазы под замок. Один размер панели на несколько мест.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310896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Риск: разная высота, нужен ряд кратных размеров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023360"/>
            <a:ext cx="5440680" cy="21945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41605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Мягкие элементы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177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Вырубка из листа вспененного ПЭ, без оснастки под каждый узел.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54864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Риск: усадка, износ, замена по регламенту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4023360"/>
            <a:ext cx="5440680" cy="21945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0" y="416052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и упаковка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46177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Упаковка по карте: комплектовщик собирает место за одну смену без спецоснастки.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54864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Риск: ошибки комплектации, нужен чек-лист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C · УНИФИКАЦИЯ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Номенклатура: минимум разных деталей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06040" cy="164592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типа оснований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46704" y="1645920"/>
            <a:ext cx="2606040" cy="164592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9584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10" name="Text 8"/>
          <p:cNvSpPr txBox="1"/>
          <p:nvPr/>
        </p:nvSpPr>
        <p:spPr>
          <a:xfrm>
            <a:off x="3529584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размер болта, M12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44768" y="1645920"/>
            <a:ext cx="2606040" cy="164592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27648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5400" dirty="0"/>
          </a:p>
        </p:txBody>
      </p:sp>
      <p:sp>
        <p:nvSpPr>
          <p:cNvPr id="13" name="Text 11"/>
          <p:cNvSpPr txBox="1"/>
          <p:nvPr/>
        </p:nvSpPr>
        <p:spPr>
          <a:xfrm>
            <a:off x="6327648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 на весь комплект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42832" y="1645920"/>
            <a:ext cx="2606040" cy="164592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25712" y="17373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5400" dirty="0"/>
          </a:p>
        </p:txBody>
      </p:sp>
      <p:sp>
        <p:nvSpPr>
          <p:cNvPr id="16" name="Text 14"/>
          <p:cNvSpPr txBox="1"/>
          <p:nvPr/>
        </p:nvSpPr>
        <p:spPr>
          <a:xfrm>
            <a:off x="9125712" y="26974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типоразмера панели защиты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566160"/>
            <a:ext cx="5440680" cy="246888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730752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общее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4160520"/>
            <a:ext cx="4983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Карманы под вилы и точки строповки на одних местах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Посадка защиты на основание одним типом замка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 и формат маркировки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Сменные прокладки одного набора толщин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3566160"/>
            <a:ext cx="5468112" cy="2468880"/>
          </a:xfrm>
          <a:prstGeom prst="rect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373075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разное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160520"/>
            <a:ext cx="50109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Несущая способность оснований кабины и противовеса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 защиты под геометрию узла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Уровень влагозащиты: пульт и двери строже</a:t>
            </a:r>
            <a:endParaRPr lang="en-US" sz="13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Способ фиксации: ремни, болты, хомуты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D · ЧЕРТЁЖ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Габаритный чертёж: кабина в сечении кузова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188720" y="1600200"/>
            <a:ext cx="3808476" cy="4041648"/>
          </a:xfrm>
          <a:prstGeom prst="rect">
            <a:avLst/>
          </a:prstGeom>
          <a:solidFill>
            <a:srgbClr val="FFFFFF"/>
          </a:solidFill>
          <a:ln w="25400">
            <a:solidFill>
              <a:srgbClr val="5B6B7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320851" y="5408676"/>
            <a:ext cx="3544214" cy="233172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20851" y="1833372"/>
            <a:ext cx="3544214" cy="3575304"/>
          </a:xfrm>
          <a:prstGeom prst="rect">
            <a:avLst/>
          </a:prstGeom>
          <a:solidFill>
            <a:srgbClr val="F3F4F5"/>
          </a:solidFill>
          <a:ln w="19050">
            <a:solidFill>
              <a:srgbClr val="3444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60754" y="1833372"/>
            <a:ext cx="3264408" cy="3575304"/>
          </a:xfrm>
          <a:prstGeom prst="rect">
            <a:avLst/>
          </a:prstGeom>
          <a:solidFill>
            <a:srgbClr val="C9D1D6"/>
          </a:solidFill>
          <a:ln w="12700">
            <a:solidFill>
              <a:srgbClr val="3444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0851" y="1755648"/>
            <a:ext cx="3544214" cy="77724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320851" y="2999232"/>
            <a:ext cx="354421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кабина 2100 × 2300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1307592"/>
            <a:ext cx="3808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кузов 2450 × 2600 (номинал)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54396" y="1645920"/>
          <a:ext cx="6185916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Размер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мм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A3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Изделие, высота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Основание с карманами под вилы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Верхняя защита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Упаковка, высота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Запас до 2600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Упаковка, ширина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2280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Запас по ширине, суммарно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A3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454396" y="5029200"/>
            <a:ext cx="618591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 100 мм по высоте слишком мал для неровности пола и просадки подвески. Действие: уменьшать основание и верхнюю защиту, изделие не менять. Вариант: опустить изделие в основание, чтобы вернуть 30–50 мм.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D · ЧЕРТЁЖ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загрузки еврофуры: по длине запас 8,5 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0881360" cy="1960245"/>
          </a:xfrm>
          <a:prstGeom prst="rect">
            <a:avLst/>
          </a:prstGeom>
          <a:solidFill>
            <a:srgbClr val="FFFFFF"/>
          </a:solidFill>
          <a:ln w="25400">
            <a:solidFill>
              <a:srgbClr val="5B6B7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8650" y="2171128"/>
            <a:ext cx="1440180" cy="1824228"/>
          </a:xfrm>
          <a:prstGeom prst="rect">
            <a:avLst/>
          </a:prstGeom>
          <a:solidFill>
            <a:srgbClr val="1F2A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1490" y="2171128"/>
            <a:ext cx="1714500" cy="18242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Кабина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188845" y="2183130"/>
            <a:ext cx="880110" cy="1800225"/>
          </a:xfrm>
          <a:prstGeom prst="rect">
            <a:avLst/>
          </a:prstGeom>
          <a:solidFill>
            <a:srgbClr val="3444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051685" y="2183130"/>
            <a:ext cx="1154430" cy="1800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Двери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188970" y="2183130"/>
            <a:ext cx="640080" cy="1120140"/>
          </a:xfrm>
          <a:prstGeom prst="rect">
            <a:avLst/>
          </a:prstGeom>
          <a:solidFill>
            <a:srgbClr val="1F2A3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051810" y="2183130"/>
            <a:ext cx="91440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Противовес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949065" y="2183130"/>
            <a:ext cx="640080" cy="800100"/>
          </a:xfrm>
          <a:prstGeom prst="rect">
            <a:avLst/>
          </a:prstGeom>
          <a:solidFill>
            <a:srgbClr val="3444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811905" y="2183130"/>
            <a:ext cx="9144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Лебёдка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949065" y="3063240"/>
            <a:ext cx="640080" cy="560070"/>
          </a:xfrm>
          <a:prstGeom prst="rect">
            <a:avLst/>
          </a:prstGeom>
          <a:solidFill>
            <a:srgbClr val="E8590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11905" y="3063240"/>
            <a:ext cx="914400" cy="560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Пульт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54805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 сверху, масштаб 1:1140. Кабина занимает ширину 2280 из 2450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28650" y="1737360"/>
            <a:ext cx="40405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занято ≈ 5,1 м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629150" y="173736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7D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свободно ≈ 8,5 м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3566160" cy="16916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690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выгрузки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1206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Пульт и лебёдка первыми (ближе к дверям)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Противовес, двери, кабина последней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297680" y="4526280"/>
            <a:ext cx="3566160" cy="169164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26280" y="46908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Крепление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526280" y="512064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Ремни на точки основания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Распорные брусья по бокам, зазоры 100 мм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046720" y="4526280"/>
            <a:ext cx="3593592" cy="1691640"/>
          </a:xfrm>
          <a:prstGeom prst="rect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75320" y="4690872"/>
            <a:ext cx="3136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5120640"/>
            <a:ext cx="31363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Ось груза и нагрузка на оси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Реальную высоту кузова</a:t>
            </a:r>
            <a:endParaRPr lang="en-US" sz="12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Габарит на ж/д платформе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D · РАЗБОРКА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Схема вскрытия кабины: подхват раньше фиксаторов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737360" cy="7772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828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Осмотр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88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Проверить целостность плёнки и признаки удара или воды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23160" y="1828800"/>
            <a:ext cx="1737360" cy="7772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514600" y="1828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Верх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2423160" y="2788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Снять верхнюю панель защиты вдвоём, масса до 15 кг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1737360" cy="7772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1828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Углы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297680" y="2788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Снять угловые стойки в порядке 1–4 по маркировке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1828800"/>
            <a:ext cx="1737360" cy="77724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828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Подхват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172200" y="2788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Завести стропы за точки подъёма, взять вес без рывка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46720" y="1828800"/>
            <a:ext cx="1737360" cy="7772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138160" y="1828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Фиксаторы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2788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Только теперь снять болты M12 с основания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21240" y="1828800"/>
            <a:ext cx="1737360" cy="77724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012680" y="1828800"/>
            <a:ext cx="1554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 Выгрузка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921240" y="278892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Поднять кабину краном, основание остаётся на месте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572000"/>
            <a:ext cx="11091672" cy="1463040"/>
          </a:xfrm>
          <a:prstGeom prst="rect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617720"/>
            <a:ext cx="1054303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Правило безопасности. </a:t>
            </a:r>
            <a:pPr indent="0" marL="0">
              <a:buNone/>
            </a:pPr>
            <a:r>
              <a:rPr lang="en-US" sz="140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Несущий фиксатор снимается только после подхвата. Масса каждого снимаемого вручную элемента должна быть указана на нём. Массу элементов надо будет подтвердить расчётом, значение 15 кг здесь ориентир.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D · СЦЕНАРИИ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Схемы сборки и разборки по сценариям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82296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Производство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Сборка места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3566160" cy="35661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Основание на кондуктор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77240" y="3355848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355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3310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Фиксация узла болтами и ремнями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4014216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9684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Прокладки и защита по карте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4672584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4672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462686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Замер брутто и габарита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77240" y="5330952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5330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5285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Этикетка и чек-лист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297680" y="1645920"/>
            <a:ext cx="3566160" cy="82296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628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Транспортировка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52628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Погрузка и крепление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297680" y="2468880"/>
            <a:ext cx="3566160" cy="35661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2697480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2628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120640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Захват за карманы или точки строповки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26280" y="3355848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26280" y="3355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5120640" y="3310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Расстановка по плану загрузки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4526280" y="4014216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26280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5120640" y="39684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Ремни и распорки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4526280" y="4672584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526280" y="4672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5120640" y="462686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Проверка плёнки и меток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4526280" y="5330952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526280" y="5330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120640" y="5285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Акт состояния при приёмке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8046720" y="1645920"/>
            <a:ext cx="3566160" cy="822960"/>
          </a:xfrm>
          <a:prstGeom prst="rect">
            <a:avLst/>
          </a:prstGeom>
          <a:solidFill>
            <a:srgbClr val="E8590C"/>
          </a:solidFill>
          <a:ln w="12700">
            <a:solidFill>
              <a:srgbClr val="E8590C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8275320" y="1691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установки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8275320" y="2057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Вскрытие и выдача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046720" y="2468880"/>
            <a:ext cx="3566160" cy="356616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75320" y="2697480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27532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8869680" y="265176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Приёмка и сверка мест</a:t>
            </a:r>
            <a:endParaRPr lang="en-US" sz="1250" dirty="0"/>
          </a:p>
        </p:txBody>
      </p:sp>
      <p:sp>
        <p:nvSpPr>
          <p:cNvPr id="50" name="Shape 48"/>
          <p:cNvSpPr/>
          <p:nvPr/>
        </p:nvSpPr>
        <p:spPr>
          <a:xfrm>
            <a:off x="8275320" y="3355848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275320" y="33558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8869680" y="3310128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Вскрытие в порядке 1–6</a:t>
            </a:r>
            <a:endParaRPr lang="en-US" sz="1250" dirty="0"/>
          </a:p>
        </p:txBody>
      </p:sp>
      <p:sp>
        <p:nvSpPr>
          <p:cNvPr id="53" name="Shape 51"/>
          <p:cNvSpPr/>
          <p:nvPr/>
        </p:nvSpPr>
        <p:spPr>
          <a:xfrm>
            <a:off x="8275320" y="4014216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275320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8869680" y="3968496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Выдача по очереди монтажа</a:t>
            </a:r>
            <a:endParaRPr lang="en-US" sz="1250" dirty="0"/>
          </a:p>
        </p:txBody>
      </p:sp>
      <p:sp>
        <p:nvSpPr>
          <p:cNvPr id="56" name="Shape 54"/>
          <p:cNvSpPr/>
          <p:nvPr/>
        </p:nvSpPr>
        <p:spPr>
          <a:xfrm>
            <a:off x="8275320" y="4672584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275320" y="46725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8869680" y="4626864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снимается перед установкой</a:t>
            </a:r>
            <a:endParaRPr lang="en-US" sz="1250" dirty="0"/>
          </a:p>
        </p:txBody>
      </p:sp>
      <p:sp>
        <p:nvSpPr>
          <p:cNvPr id="59" name="Shape 57"/>
          <p:cNvSpPr/>
          <p:nvPr/>
        </p:nvSpPr>
        <p:spPr>
          <a:xfrm>
            <a:off x="8275320" y="5330952"/>
            <a:ext cx="411480" cy="411480"/>
          </a:xfrm>
          <a:prstGeom prst="ellipse">
            <a:avLst/>
          </a:prstGeom>
          <a:solidFill>
            <a:srgbClr val="5B6B75"/>
          </a:solidFill>
          <a:ln w="12700">
            <a:solidFill>
              <a:srgbClr val="5B6B75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8275320" y="5330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8869680" y="52852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Тара разбирается и складывается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МОДУЛЬ D · ЗНАКИ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Маркировка: пять полей на каждом месте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120640" cy="4297680"/>
          </a:xfrm>
          <a:prstGeom prst="rect">
            <a:avLst/>
          </a:prstGeom>
          <a:solidFill>
            <a:srgbClr val="FFFFFF"/>
          </a:solidFill>
          <a:ln w="25400">
            <a:solidFill>
              <a:srgbClr val="1F2A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5120640" cy="914400"/>
          </a:xfrm>
          <a:prstGeom prst="rect">
            <a:avLst/>
          </a:prstGeom>
          <a:solidFill>
            <a:srgbClr val="1F2A30"/>
          </a:solidFill>
          <a:ln w="12700">
            <a:solidFill>
              <a:srgbClr val="1F2A3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6459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К-01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6459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КАБИНА · место 1 из 5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432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Масса брутто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7432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___ кг (по факту взвешивания)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64992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Верх ↑ / центр тяжести ⊕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880360" y="3364992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пиктограммы по ISO 780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986784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Точки строповки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3986784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шт., отмечены оранжевым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60857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Порядок вскрытия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880360" y="4608576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6, схема на боковой стороне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52303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Содержимое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523036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кабина, панели, комплект крепежа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35040" y="1645920"/>
            <a:ext cx="5605272" cy="2011680"/>
          </a:xfrm>
          <a:prstGeom prst="rect">
            <a:avLst/>
          </a:prstGeom>
          <a:solidFill>
            <a:srgbClr val="F3F4F5"/>
          </a:solidFill>
          <a:ln w="12700">
            <a:solidFill>
              <a:srgbClr val="F3F4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1810512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F2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Правила размещения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240280"/>
            <a:ext cx="51480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Метка на трёх видимых сторонах, не на съёмных панелях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узла крупно, читается с 3 м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Цвет: оранжевый только для точек подъёма и опасных зон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035040" y="3840480"/>
            <a:ext cx="5605272" cy="2103120"/>
          </a:xfrm>
          <a:prstGeom prst="rect">
            <a:avLst/>
          </a:prstGeom>
          <a:solidFill>
            <a:srgbClr val="FDE9DC"/>
          </a:solidFill>
          <a:ln w="12700">
            <a:solidFill>
              <a:srgbClr val="FDE9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63640" y="4005072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получит монтажник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434840"/>
            <a:ext cx="514807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Код места совпадает с кодом узла на схеме сборки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Стрелка порядка вскрытия и знак «не снимать до подхвата»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3444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Знаки безопасности и подробная схема, модуль 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A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C–D и переход к E–G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Конструктор из трёх оснований, материалы, чертёж кабины в сечении, план загрузки, схемы по сценариям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21792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риск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217920" y="228600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Запас по высоте кабины 100 мм. Уменьшать основание или опускать изделие, не менять габарит изделия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40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Нужно уточнить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976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изготовителя: точки строповки, ориентацию противовеса, размеры дверей и пульта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3840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59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217920" y="429768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E: знаки безопасности и визуальная коммуникация. F: сборка финальной презентации. G: защита проекта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Упаковка лифта «Воздух»: модули C–D</dc:title>
  <dc:subject>PptxGenJS Presentation</dc:subject>
  <dc:creator>PptxGenJS</dc:creator>
  <cp:lastModifiedBy>PptxGenJS</cp:lastModifiedBy>
  <cp:revision>1</cp:revision>
  <dcterms:created xsi:type="dcterms:W3CDTF">2026-09-29T09:17:45Z</dcterms:created>
  <dcterms:modified xsi:type="dcterms:W3CDTF">2026-09-29T09:17:45Z</dcterms:modified>
</cp:coreProperties>
</file>